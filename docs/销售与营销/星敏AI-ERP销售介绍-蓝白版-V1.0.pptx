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4a73b32e44425" /><Relationship Type="http://schemas.openxmlformats.org/officeDocument/2006/relationships/extended-properties" Target="/docProps/app.xml" Id="Refca33732f084ab9" /><Relationship Type="http://schemas.openxmlformats.org/officeDocument/2006/relationships/officeDocument" Target="/ppt/presentation.xml" Id="Ra5812d25d7c94b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19e9f16e384458"/>
  </p:sldMasterIdLst>
  <p:notesMasterIdLst>
    <p:notesMasterId xmlns:r="http://schemas.openxmlformats.org/officeDocument/2006/relationships" r:id="Ra5a07e14243e43a4"/>
  </p:notesMasterIdLst>
  <p:sldIdLst>
    <p:sldId xmlns:r="http://schemas.openxmlformats.org/officeDocument/2006/relationships" id="256" r:id="R8c3ad1893b36492b"/>
    <p:sldId xmlns:r="http://schemas.openxmlformats.org/officeDocument/2006/relationships" id="257" r:id="Rbe13ab3f31ce4a7d"/>
    <p:sldId xmlns:r="http://schemas.openxmlformats.org/officeDocument/2006/relationships" id="258" r:id="R789300f74cd64b50"/>
    <p:sldId xmlns:r="http://schemas.openxmlformats.org/officeDocument/2006/relationships" id="259" r:id="Rfaa65ea8e8844edd"/>
    <p:sldId xmlns:r="http://schemas.openxmlformats.org/officeDocument/2006/relationships" id="260" r:id="R887d514ed71a4328"/>
    <p:sldId xmlns:r="http://schemas.openxmlformats.org/officeDocument/2006/relationships" id="261" r:id="R54fb0f1d6ec14837"/>
    <p:sldId xmlns:r="http://schemas.openxmlformats.org/officeDocument/2006/relationships" id="262" r:id="R7798f2aaf6a54a5b"/>
    <p:sldId xmlns:r="http://schemas.openxmlformats.org/officeDocument/2006/relationships" id="263" r:id="Ra19895d8545d4367"/>
    <p:sldId xmlns:r="http://schemas.openxmlformats.org/officeDocument/2006/relationships" id="264" r:id="R683bba9124d7426c"/>
    <p:sldId xmlns:r="http://schemas.openxmlformats.org/officeDocument/2006/relationships" id="265" r:id="Rc82e853641994dc2"/>
    <p:sldId xmlns:r="http://schemas.openxmlformats.org/officeDocument/2006/relationships" id="266" r:id="R9ae47c7834f64e62"/>
    <p:sldId xmlns:r="http://schemas.openxmlformats.org/officeDocument/2006/relationships" id="267" r:id="R7381d977041748a5"/>
    <p:sldId xmlns:r="http://schemas.openxmlformats.org/officeDocument/2006/relationships" id="268" r:id="R1d394da3583949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8f7723ed6648c3" /><Relationship Type="http://schemas.openxmlformats.org/officeDocument/2006/relationships/slideMaster" Target="/ppt/slideMasters/slideMaster1.xml" Id="R0819e9f16e384458" /><Relationship Type="http://schemas.openxmlformats.org/officeDocument/2006/relationships/notesMaster" Target="/ppt/notesMasters/notesMaster1.xml" Id="Ra5a07e14243e43a4" /><Relationship Type="http://schemas.openxmlformats.org/officeDocument/2006/relationships/presProps" Target="/ppt/presProps.xml" Id="R3e775b3ed88c49cc" /><Relationship Type="http://schemas.openxmlformats.org/officeDocument/2006/relationships/tableStyles" Target="/ppt/tableStyles.xml" Id="R21a557aa95724db7" /><Relationship Type="http://schemas.openxmlformats.org/officeDocument/2006/relationships/slide" Target="/ppt/slides/slide1.xml" Id="R8c3ad1893b36492b" /><Relationship Type="http://schemas.openxmlformats.org/officeDocument/2006/relationships/slide" Target="/ppt/slides/slide2.xml" Id="Rbe13ab3f31ce4a7d" /><Relationship Type="http://schemas.openxmlformats.org/officeDocument/2006/relationships/slide" Target="/ppt/slides/slide3.xml" Id="R789300f74cd64b50" /><Relationship Type="http://schemas.openxmlformats.org/officeDocument/2006/relationships/slide" Target="/ppt/slides/slide4.xml" Id="Rfaa65ea8e8844edd" /><Relationship Type="http://schemas.openxmlformats.org/officeDocument/2006/relationships/slide" Target="/ppt/slides/slide5.xml" Id="R887d514ed71a4328" /><Relationship Type="http://schemas.openxmlformats.org/officeDocument/2006/relationships/slide" Target="/ppt/slides/slide6.xml" Id="R54fb0f1d6ec14837" /><Relationship Type="http://schemas.openxmlformats.org/officeDocument/2006/relationships/slide" Target="/ppt/slides/slide7.xml" Id="R7798f2aaf6a54a5b" /><Relationship Type="http://schemas.openxmlformats.org/officeDocument/2006/relationships/slide" Target="/ppt/slides/slide8.xml" Id="Ra19895d8545d4367" /><Relationship Type="http://schemas.openxmlformats.org/officeDocument/2006/relationships/slide" Target="/ppt/slides/slide9.xml" Id="R683bba9124d7426c" /><Relationship Type="http://schemas.openxmlformats.org/officeDocument/2006/relationships/slide" Target="/ppt/slides/slide10.xml" Id="Rc82e853641994dc2" /><Relationship Type="http://schemas.openxmlformats.org/officeDocument/2006/relationships/slide" Target="/ppt/slides/slide11.xml" Id="R9ae47c7834f64e62" /><Relationship Type="http://schemas.openxmlformats.org/officeDocument/2006/relationships/slide" Target="/ppt/slides/slide12.xml" Id="R7381d977041748a5" /><Relationship Type="http://schemas.openxmlformats.org/officeDocument/2006/relationships/slide" Target="/ppt/slides/slide13.xml" Id="R1d394da35839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e83fb3457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acaa19106478c" /><Relationship Type="http://schemas.openxmlformats.org/officeDocument/2006/relationships/notesMaster" Target="/ppt/notesMasters/notesMaster1.xml" Id="R28086098c7804e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d0bb37cac54e32" /><Relationship Type="http://schemas.openxmlformats.org/officeDocument/2006/relationships/notesMaster" Target="/ppt/notesMasters/notesMaster1.xml" Id="R2f8b9502fa264d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794db6b3a2431f" /><Relationship Type="http://schemas.openxmlformats.org/officeDocument/2006/relationships/notesMaster" Target="/ppt/notesMasters/notesMaster1.xml" Id="Re9d314f0f1b249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59c1313ff4a15" /><Relationship Type="http://schemas.openxmlformats.org/officeDocument/2006/relationships/notesMaster" Target="/ppt/notesMasters/notesMaster1.xml" Id="R261a0034c4c247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1b5714618949e6" /><Relationship Type="http://schemas.openxmlformats.org/officeDocument/2006/relationships/notesMaster" Target="/ppt/notesMasters/notesMaster1.xml" Id="R62dc741f4d17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5f76ed14a486f" /><Relationship Type="http://schemas.openxmlformats.org/officeDocument/2006/relationships/notesMaster" Target="/ppt/notesMasters/notesMaster1.xml" Id="R8ed8c0eeacd448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0f24d6fcec46eb" /><Relationship Type="http://schemas.openxmlformats.org/officeDocument/2006/relationships/notesMaster" Target="/ppt/notesMasters/notesMaster1.xml" Id="R5dfa1f7121e54b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e28ffc4be2424c" /><Relationship Type="http://schemas.openxmlformats.org/officeDocument/2006/relationships/notesMaster" Target="/ppt/notesMasters/notesMaster1.xml" Id="Rf2cd63b82f4b4c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2a464a2fd14442" /><Relationship Type="http://schemas.openxmlformats.org/officeDocument/2006/relationships/notesMaster" Target="/ppt/notesMasters/notesMaster1.xml" Id="Ra729628b185242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23115c66534e7d" /><Relationship Type="http://schemas.openxmlformats.org/officeDocument/2006/relationships/notesMaster" Target="/ppt/notesMasters/notesMaster1.xml" Id="Re9e31c004eae4c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c2aaba4d7a4b07" /><Relationship Type="http://schemas.openxmlformats.org/officeDocument/2006/relationships/notesMaster" Target="/ppt/notesMasters/notesMaster1.xml" Id="Rf7713f7f117748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de9880f2474144" /><Relationship Type="http://schemas.openxmlformats.org/officeDocument/2006/relationships/notesMaster" Target="/ppt/notesMasters/notesMaster1.xml" Id="R21d6f70c94684e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244cacc2c14bef" /><Relationship Type="http://schemas.openxmlformats.org/officeDocument/2006/relationships/notesMaster" Target="/ppt/notesMasters/notesMaster1.xml" Id="Rb17c1555851c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开场不讲菜单，先说明这是一套把业务数据连起来、让老板和员工使用 AI 的企业经营系统。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X:/Work/xm-im-erp-pm/docs/销售与营销/10-销售PPT逐页完整内容稿.md</a:t>
            </a:r>
          </a:p>
          <a:p xmlns:a="http://schemas.openxmlformats.org/drawingml/2006/main">
            <a:r>
              <a:t>- X:/Work/xm-im-erp-pm/docs/销售与营销/assets/ppt/connected-business-chain.png (built-in image_gen)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询问客户：这五种情况里，哪两种最接近您现在的工作？根据答案调整后续演示重点。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X:/Work/xm-im-erp-pm/docs/销售与营销/10-销售PPT逐页完整内容稿.md</a:t>
            </a:r>
          </a:p>
          <a:p xmlns:a="http://schemas.openxmlformats.org/drawingml/2006/main">
            <a:r>
              <a:t>- X:/Work/xm-im-erp-pm/docs/销售与营销/assets/ppt/data-fragmentation.png (built-in image_gen)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强调星敏不是悬浮聊天框，而是连接客户、报价、订单、采购、库存、发货、应收、项目和售后的业务底座。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X:/Work/xm-im-erp-pm/docs/销售与营销/10-销售PPT逐页完整内容稿.md</a:t>
            </a:r>
          </a:p>
          <a:p xmlns:a="http://schemas.openxmlformats.org/drawingml/2006/main">
            <a:r>
              <a:t>- X:/Work/xm-im-erp-pm/docs/销售与营销/assets/ppt/connected-business-chain.png (built-in image_gen)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演示问题：公司今天有什么需要我注意的？强调跨模块汇总、数据基准时间和来源下钻。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X:/Work/xm-im-erp-pm/docs/Demo方案/README.md</a:t>
            </a:r>
          </a:p>
          <a:p xmlns:a="http://schemas.openxmlformats.org/drawingml/2006/main"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XM-ABS-WHITE 解释账面、预留、可用、销量、耗尽天数与采购提前期的关系。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在现场停在任务预览页，强调不会未经确认直接创建正式任务或对外发消息。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X:/Work/xm-im-erp-pm/docs/销售与营销/10-销售PPT逐页完整内容稿.md</a:t>
            </a:r>
          </a:p>
          <a:p xmlns:a="http://schemas.openxmlformats.org/drawingml/2006/main"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讲销售示例：销售把客户询价转给 OpenClaw，AI 查询价格与可用库存，销售确认回复，并把记录提交 ERP。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X:/Work/xm-im-erp-pm/docs/销售与营销/07-员工AI接入与OpenClaw销售说明.md</a:t>
            </a:r>
          </a:p>
          <a:p xmlns:a="http://schemas.openxmlformats.org/drawingml/2006/main">
            <a:r>
              <a:t>- X:/Work/xm-im-erp-pm/docs/销售与营销/assets/ppt/employee-ai-to-erp.png (built-in image_gen)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不宣传适合所有企业。优先判断是否存在客户到回款链路、多岗位协作与数据分散问题。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X:/Work/xm-im-erp-pm/docs/销售与营销/10-销售PPT逐页完整内容稿.md</a:t>
            </a:r>
          </a:p>
          <a:p xmlns:a="http://schemas.openxmlformats.org/drawingml/2006/main">
            <a:r>
              <a:t>- X:/Work/xm-im-erp-pm/docs/销售与营销/assets/ppt/trade-equipment-company.png (built-in image_gen)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强调试用不是开空账号。双方先定义场景、数据、参与人和可验证成功事件。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X:/Work/xm-im-erp-pm/docs/销售与营销/03-首批客户访谈与试用验收清单.md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不要展示未经验证的安全认证。只讲已具备或可按正式方案确认的租户、角色、来源、确认、审计、备份与导出能力。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X:/Work/xm-im-erp-pm/docs/销售与营销/10-销售PPT逐页完整内容稿.md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价格均使用“起”。正式报价区分年度订阅和一次性实施，并明确 AI 额度、迁移、培训、接口与不包含内容。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X:/Work/xm-im-erp-pm/docs/销售与营销/06-套餐报价与实施服务说明.md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根据现场讨论直接提出一个具体试用场景，并确认客户负责人、星敏负责人和下一日期。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X:/Work/xm-im-erp-pm/docs/销售与营销/10-销售PPT逐页完整内容稿.md</a:t>
            </a:r>
          </a:p>
          <a:p xmlns:a="http://schemas.openxmlformats.org/drawingml/2006/main">
            <a:r>
              <a:t>- X:/Work/xm-im-erp-pm/docs/销售与营销/assets/ppt/wechat-ai-workflow.png (built-in image_gen)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结束时邀请客户扫码添加实施顾问，或进入官网体验。现场确认下一次沟通时间和拟验证的业务场景。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WeChat QR code: contact-wechat-qr.png</a:t>
            </a:r>
          </a:p>
          <a:p xmlns:a="http://schemas.openxmlformats.org/drawingml/2006/main">
            <a:r>
              <a:t>- User-provided website QR code: erp-website-qr.png</a:t>
            </a:r>
          </a:p>
          <a:p xmlns:a="http://schemas.openxmlformats.org/drawingml/2006/main">
            <a:r>
              <a:t>- https://erp.starmin.cn/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5bfd89dbc4d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78c0c303748cb" /><Relationship Type="http://schemas.openxmlformats.org/officeDocument/2006/relationships/slideLayout" Target="/ppt/slideLayouts/slideLayout1.xml" Id="Rdf32bd7cf4de4c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2bd7cf4de4c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e13dcea55497a" /><Relationship Type="http://schemas.openxmlformats.org/officeDocument/2006/relationships/image" Target="/ppt/media/image.png" Id="R476e06cd42974a0b" /><Relationship Type="http://schemas.openxmlformats.org/officeDocument/2006/relationships/notesSlide" Target="/ppt/notesSlides/notesSlide1.xml" Id="Rc7c30e48dec644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bd77907b4494a" /><Relationship Type="http://schemas.openxmlformats.org/officeDocument/2006/relationships/image" Target="/ppt/media/image2.png" Id="Rde6586da8ff44af5" /><Relationship Type="http://schemas.openxmlformats.org/officeDocument/2006/relationships/notesSlide" Target="/ppt/notesSlides/notesSlide2.xml" Id="R21de3bef006149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02d932402455c" /><Relationship Type="http://schemas.openxmlformats.org/officeDocument/2006/relationships/image" Target="/ppt/media/image3.png" Id="R309375aecaa54eca" /><Relationship Type="http://schemas.openxmlformats.org/officeDocument/2006/relationships/notesSlide" Target="/ppt/notesSlides/notesSlide3.xml" Id="R472a68cc35d24e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c586e2e0d4e34" /><Relationship Type="http://schemas.openxmlformats.org/officeDocument/2006/relationships/notesSlide" Target="/ppt/notesSlides/notesSlide4.xml" Id="R58ba5831ec3543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15ad9148d4378" /><Relationship Type="http://schemas.openxmlformats.org/officeDocument/2006/relationships/notesSlide" Target="/ppt/notesSlides/notesSlide5.xml" Id="Rf2cb1988b8d74b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ba8ac3b45404c" /><Relationship Type="http://schemas.openxmlformats.org/officeDocument/2006/relationships/notesSlide" Target="/ppt/notesSlides/notesSlide6.xml" Id="R95ec1e0d144c48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19181f2bc4fe9" /><Relationship Type="http://schemas.openxmlformats.org/officeDocument/2006/relationships/image" Target="/ppt/media/image4.png" Id="R02ac4b2dda8a4efe" /><Relationship Type="http://schemas.openxmlformats.org/officeDocument/2006/relationships/notesSlide" Target="/ppt/notesSlides/notesSlide7.xml" Id="Rb2f66dcd3cf24a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728fb8a1c4f13" /><Relationship Type="http://schemas.openxmlformats.org/officeDocument/2006/relationships/image" Target="/ppt/media/image5.png" Id="Rf7451c5178fb4f63" /><Relationship Type="http://schemas.openxmlformats.org/officeDocument/2006/relationships/notesSlide" Target="/ppt/notesSlides/notesSlide8.xml" Id="R66adc4827a5f4a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a68939ac14f37" /><Relationship Type="http://schemas.openxmlformats.org/officeDocument/2006/relationships/notesSlide" Target="/ppt/notesSlides/notesSlide9.xml" Id="R2bd504892fa545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de1d633ea4ec2" /><Relationship Type="http://schemas.openxmlformats.org/officeDocument/2006/relationships/notesSlide" Target="/ppt/notesSlides/notesSlide10.xml" Id="R70aebf2f2ab54b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6351c2f3b4bc9" /><Relationship Type="http://schemas.openxmlformats.org/officeDocument/2006/relationships/notesSlide" Target="/ppt/notesSlides/notesSlide11.xml" Id="Rd0b5739a24cc48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017cb5b03499d" /><Relationship Type="http://schemas.openxmlformats.org/officeDocument/2006/relationships/image" Target="/ppt/media/image6.png" Id="Ra84ce7f23ea743fb" /><Relationship Type="http://schemas.openxmlformats.org/officeDocument/2006/relationships/notesSlide" Target="/ppt/notesSlides/notesSlide12.xml" Id="R74ff00ac1f4f4a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02ff006e94117" /><Relationship Type="http://schemas.openxmlformats.org/officeDocument/2006/relationships/image" Target="/ppt/media/image7.png" Id="R1df1f0a032e04e00" /><Relationship Type="http://schemas.openxmlformats.org/officeDocument/2006/relationships/image" Target="/ppt/media/image8.png" Id="Rb8e0015d05994a5e" /><Relationship Type="http://schemas.openxmlformats.org/officeDocument/2006/relationships/notesSlide" Target="/ppt/notesSlides/notesSlide13.xml" Id="Rc4725df0734e44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F2729-CD49-45BE-B90D-2ED7DB0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506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e06cd42974a0b"/>
          <a:srcRect xmlns:a="http://schemas.openxmlformats.org/drawingml/2006/main" l="14544" t="0" r="145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000125"/>
            <a:ext cx="6000750" cy="4762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55AE-4B67-4283-A3E2-E55D7C5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STARMIN · AI NATIVE ERP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02A7D-1470-4009-B24C-F1F2815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星敏 AI ERP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BF975-ED92-48EE-8734-9A8513F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让企业从“人找数据”</a:t>
            </a:r>
          </a:p>
          <a:p xmlns:a="http://schemas.openxmlformats.org/drawingml/2006/main"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变成“AI 找数据、办业务”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3C241-CC7E-46A9-A41D-804C5766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 · 销售 · 采购 · 库存 · 应收 · 项目 · 售后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27290-7498-47CC-B9A9-BE6D3847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6954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9525">
            <a:solidFill>
              <a:srgbClr val="126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B0B22-2CAB-47A8-B844-3073EA0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企业经营，直接问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33886-8062-4036-B992-A23225EA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面向贸易、设备销售和工业品企业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40B45-E685-4C3A-86B0-BE61DF0A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广州星敏智能科技有限公司</a:t>
            </a:r>
          </a:p>
        </p:txBody>
      </p:sp>
    </p:spTree>
    <p:extLst>
      <p:ext uri="{BB962C8B-B14F-4D97-AF65-F5344CB8AC3E}">
        <p14:creationId xmlns:p14="http://schemas.microsoft.com/office/powerpoint/2010/main" val="163691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586da8ff44af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834C-0F4A-4241-9573-D91AEB2F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B10C5-1D62-4966-8345-43977605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每天的真实摩擦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77DC9-4ED8-4AAA-BD97-079A82A0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客户在微信里，订单在 Excel 里，库存还要到处问？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75465-D57A-4BE1-8751-4380349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CDBC0-E732-4C8B-AB8E-8E41BB4E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0FA17-9166-4ACD-B313-7F9AB58B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客户资料散在员工微信、通讯录和表格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报价、订单、采购反复复制和录入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账面有库存，接单后才发现已被预留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应收逾期和项目风险发现得太晚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系统里有数据，老板仍然要等报表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53A99-0708-4AB0-BDE7-C60BE7BB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476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5BE71-B5AA-41BA-AA7D-51192E84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问题不是缺少一张表，</a:t>
            </a:r>
          </a:p>
          <a:p xmlns:a="http://schemas.openxmlformats.org/drawingml/2006/main">
            <a:pPr algn="l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而是客户到回款没有形成连续业务链。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2CBA1-8F21-416A-BDD6-9B7ED73D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A1524-8C6B-4972-AEE3-AA8928ED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271894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939E8-CDD1-4CF7-9F97-D65BF06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业务底座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FE5F4-0FEF-4477-889C-04AE6DD2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同一份业务数据，贯穿客户到回款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233B0-1D26-464E-BC6E-E46AB3F3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AE6F0-2398-4886-8F1D-6E54F7C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375aecaa54eca"/>
          <a:stretch xmlns:a="http://schemas.openxmlformats.org/drawingml/2006/main"/>
        </p:blipFill>
        <p:spPr>
          <a:xfrm xmlns:a="http://schemas.openxmlformats.org/drawingml/2006/main">
            <a:off x="609600" y="1772949"/>
            <a:ext cx="7239000" cy="4074102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6BAFF-0E78-415C-824B-EBE638A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57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数据只录一次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5B91B-6405-483C-BF6F-E7B9C5C2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客户和商品在后续环节持续复用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D2A88-722D-4F05-8D2E-5C31C9A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90B66-472A-4189-A01E-33D9786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跨部门看同一进度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F8734-C820-47D5-8D3A-5022F4C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销售、采购、仓库、财务与项目不再各自解释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72301-7BDE-43E2-93DB-F9530A4A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16043-2C8B-4F02-A105-1F42109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贯穿全部节点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1A4B6-9D0A-4317-8344-DD7251E8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查询 → 判断 → 员工确认后的业务动作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3FE96-9518-44C4-AA2E-F85FA559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A1894-C133-43FD-9655-3B569207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739481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AA17B3-9A36-42A8-A137-666B9A56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经营入口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32BE2-4387-49B9-AB54-F523747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一句话，先看今天最需要处理的经营风险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36818-2B95-4734-B461-7EE11C99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362DE-F904-4313-BB1E-DF9F34B5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F7773-E5C2-454A-B79A-6D5B948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530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D5AC2-708B-40D0-AA7B-8309AEBE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203E5-E6D2-425B-93B5-1C775303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286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EEF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A956E-7C03-4C07-8238-C62CF85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公司今天有什么需要我注意的？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F09D2-C25F-43C9-A07B-FA370205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05399-5FFF-48DE-9483-6363601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按影响优先级汇总销售、库存、应收、项目和售后，</a:t>
            </a:r>
          </a:p>
          <a:p xmlns:a="http://schemas.openxmlformats.org/drawingml/2006/main">
            <a:pPr algn="l">
              <a:def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每个结论都可以继续查看来源明细。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3096C-62B0-4785-AC41-197FA88E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7716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9525">
            <a:solidFill>
              <a:srgbClr val="126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A76F7-176B-4331-9862-4610E218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查看来源明细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EBD27-836C-4F17-9A7E-5050878F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002BC-B8CD-463D-810E-E32240C7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00D50-7701-49EA-9AB5-FAC1DF6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逾期应收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AD2B9-930F-4658-8FDA-F91A0E2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rPr>
              <a:t>5 笔 · ¥196,800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D314E-7BBC-4A32-810F-CD03505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4762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92D2B-4E33-430A-A27E-C15EDC57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CFB39-0387-473D-99E1-7B9A70B7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低库存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B47D8-5101-4C23-ADC9-D92B3AB9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 个 SKU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21CAF-4568-4A84-9484-85B174E7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762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CD5B7-D781-4965-909C-A1554BCC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AD8AD-F529-4990-89CE-959B077E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延期项目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53DA6-6E85-4589-990C-B982E540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rPr>
              <a:t>2 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3B810-EAED-4C61-AF87-053CA84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762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AAEB9-8113-46FE-BC44-F55B10F4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72FDE9-722A-409E-9D9D-F1116EF9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SLA 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9ED2F-FF3F-40FF-87B3-22433231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3 张 · 1 张超时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A78BBB-43A8-458F-86D1-ACD3426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4762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F46E2-5AD7-4B9A-8AB3-751B4927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D209D7-891D-4445-8B21-783FCE44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超期未跟进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1CCA38-A7EB-4449-886C-736FF7C1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6 家 · ¥468,000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80AF96-EB0F-4920-8D6B-F244C1F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86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星海智能设备有限公司 · 演示数据 · 基准日 2026-08-30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9E46D-85BA-4CAF-8106-CC9ACE73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EB7F8F-E490-49FD-8774-7A5158FA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845085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99E003-6C4D-4B27-8A33-D1E92DEA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判断有口径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5A4A4-2F92-449D-A611-0BC9D38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“账面有货”不等于“现在能卖”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02D94-4174-4B51-9B13-2A2E7781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920DA-5C0A-44B4-BD9E-CEFF689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14ECE-399A-4E30-8D47-1B35109E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764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6FA4F-7FAC-492C-9E7B-F1684CF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F7895-85EE-4801-B8DB-BC11CB3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账面库存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3F6A0-30C7-42F9-90A3-A2002A9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1462B-16BF-4923-A0F6-067F23FE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52625"/>
            <a:ext cx="16764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07D25-E8D4-4755-8D76-58664318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336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−6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37105-F4AC-41AF-84D6-ACFC664E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销售预留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7D9A8-1889-42B8-B8C9-6C14B507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4526A-7E61-4FA6-81AF-7374CB6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52625"/>
            <a:ext cx="16764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55BFB-A493-49A5-B467-10C77A9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336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−2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27821-3580-453C-95AC-CF4F2E87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项目预留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0B381-DC35-4960-B0D8-4E0D138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2ACBA-3C76-49D9-A793-8C24B902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52625"/>
            <a:ext cx="16764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A9E9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3F757-2CD5-4DC4-821A-4CF10757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AA224-46C9-4284-9C76-6A394F4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当前可用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B2796-CDF8-4125-96F0-D37A320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20002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0A1F3A"/>
          </a:solidFill>
          <a:ln xmlns:a="http://schemas.openxmlformats.org/drawingml/2006/main" w="9525">
            <a:solidFill>
              <a:srgbClr val="0A1F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C0A77-BE57-43AF-AD1D-0D508439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4 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B6671-E19B-4D75-ACCA-CADD64FB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C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CD7F5"/>
                </a:solidFill>
                <a:latin typeface="Microsoft YaHei"/>
                <a:ea typeface="Microsoft YaHei"/>
                <a:cs typeface="Microsoft YaHei"/>
              </a:rPr>
              <a:t>预计耗尽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F89CB-169E-43AE-9F6B-0F2E42B2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172ED-5BBE-45D7-AE3F-7ED38154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105 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9C5D7-3400-45E5-ABC6-1490340B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近 30 天销量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DB6CA-8C34-4E5D-9569-A8E87413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3.5 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89163-AE92-4D2C-9BC5-B6000D0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52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日均销量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2CA933-60BE-47D6-831E-4AAD370E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71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9 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F30F9-4451-4C72-BCAD-13A80CCF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采购提前期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EDD11-0C71-46BF-86BE-FC93E0CA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rPr>
              <a:t>60 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B09321-05E1-4F01-B1B0-15F6F90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建议采购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B1C246-7F13-4E97-9105-464B6BEB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结论 → 计算口径 → 来源明细 → 下一步建议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6A7804-B6A7-4FDE-860E-D003F52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9D06A0-5375-42DF-9FB1-7D8C455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1810071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B046B-B973-4D86-ABBA-9493878F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从回答到行动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B98C0-7D19-479F-AC25-14BDF6BD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先查清对象，再让员工确认下一步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2FC01-3FDF-429F-943B-3B65BF0A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FD2A4-2BF8-4C42-9A0C-ED99E9EC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62D37-BA28-4678-BA03-A4AA26B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“哪些客户超过 15 天没跟进，而且开放商机大于 5 万？”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F0D4F-CA2E-4464-96FC-B46959B3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3938E-D5DC-45D5-B6F4-4008DD9F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238375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C3F9A-41C4-4FD6-8DB2-F493D4BE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41176-941B-44FA-B78F-96B0EF3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查询对象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76984-B81F-413C-BE69-8DA84228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6 家客户</a:t>
            </a:r>
          </a:p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商机合计 ¥468,000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66985-DD5D-42A3-B87B-ACFC0DE0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147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7B296-63F2-492F-905C-D40ECD87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19375"/>
            <a:ext cx="2238375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5F25F-7AB0-41B6-BB8D-4EE09B4F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00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AF465-9EF8-4144-A3EC-74A99D4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解释规则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747F2-57A2-40A9-94F1-9E328AA5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未跟进天数</a:t>
            </a:r>
          </a:p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开放商机金额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12F2C-6D58-4DE5-B5A6-0D94681E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1821F-A256-49F8-8E03-C8664F8A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19375"/>
            <a:ext cx="2238375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6BC70-D26E-489E-9224-961280C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BE8FF-1A49-4708-94FF-25B44EE6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预览影响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771CD-4E7A-46E1-B719-8DBD307C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负责人 · 日期</a:t>
            </a:r>
          </a:p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任务内容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25E3D-6B13-4F3F-803E-560DCD5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19375"/>
            <a:ext cx="2238375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58B77-8C47-49D5-B82E-3714E2E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EE5FC-8EEF-4B50-890B-E32F5251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FD27B-57D1-4683-8B37-9D8D6397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修改 / 放弃 / 创建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0E712-D593-44C9-A35D-C2681906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57750"/>
            <a:ext cx="828675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BD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E29AB-2B47-4D0F-97AA-905DA1F3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38725"/>
            <a:ext cx="769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负责查询、整理和准备动作；员工负责判断、确认和对外沟通。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1B449-1943-4A8A-BEF2-57A381F4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6BF754-2D74-4279-948F-9E5F7719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1763511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2880D-C430-41A6-9A0B-0DA012E9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开放 AI 连接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7A71-BF23-414D-BF68-D9F4D6E1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员工继续使用熟悉的 AI，业务仍然回到同一套 ERP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5B322-D621-478A-BDE5-2047CB07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6E132-92BD-4222-B46E-77DDCFC9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1F26-B352-49A0-9BA7-3019DCD2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OpenClaw / 龙虾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9F486-9195-47E6-B31C-D0437625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0FE29-447E-47C5-979C-4A6FEB92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D8C8E-3BE0-41B8-B9E4-469D8055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豆包 · Dify · 企业自建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4AFF4-3C59-4E3E-A91A-7EC602D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A09EC-C79A-4CBA-A44F-F96713A7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ABE0F-B1FE-4309-A3AB-0B829DA0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员工描述或转发工作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345EE-229B-4105-B388-88077A7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E7380-7B82-40A3-9717-7927E71C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DB921-593F-4B09-A436-04FBCFC2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查询 ERP 并整理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442D9-9605-415D-B11C-49B49C2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30337-5031-4FDB-901A-C64752A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82DA3-8101-49DB-8E36-9BC9F474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员工确认回复或动作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133B2-FF8B-47C9-A3F8-3C1D3C8E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B897C-15CC-4388-9A93-92CEDBF1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79F3B-0296-4F38-BEF4-955975C3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业务数据提交到 ERP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c4b2dda8a4efe"/>
          <a:stretch xmlns:a="http://schemas.openxmlformats.org/drawingml/2006/main"/>
        </p:blipFill>
        <p:spPr>
          <a:xfrm xmlns:a="http://schemas.openxmlformats.org/drawingml/2006/main">
            <a:off x="4953000" y="1571625"/>
            <a:ext cx="6286500" cy="41910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D735E-3D71-4F09-8D07-79ACD68B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72125"/>
            <a:ext cx="6096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BD8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A8C4E-7A4F-4E2B-ABD6-BCE2C772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67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微信里与 AI 沟通的是企业员工；客户不直接操作 ERP。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3A8CD-AC47-4377-89AD-1F4BB93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510C4-491A-4D93-B3E4-AB2CC12A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761857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46781-B67A-4624-91E8-6AB3A540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优先服务范围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8B90A-D1D4-4F27-9AAA-3A87BE99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最适合有连续业务链、跨部门协同压力的企业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05BD8-525E-4167-97E3-D01B0DDD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759E5-FD48-4478-9B28-BAFA916D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51c5178fb4f63"/>
          <a:srcRect xmlns:a="http://schemas.openxmlformats.org/drawingml/2006/main" l="7503" t="0" r="7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466850"/>
            <a:ext cx="7048500" cy="466725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149B0-2B77-4327-9B81-3CCE7711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贸易企业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C2A4A-1307-4ADB-B8E9-4029E90B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 · 采购 · 库存 · 应收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E3452-4413-4C25-ABC0-6349D3F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948AE-2258-4376-9939-930ED55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外贸企业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D0511-9225-4543-BD71-F0AF8212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海外客户 · 多币种 · 装箱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FDFFC-5646-49B8-8258-77AC0C39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DFF84-A08A-40C9-BB9B-B348B376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设备销售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C31F4-C490-41C0-B844-B2E2C98B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设备 · 项目 · 验收 · 售后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2B658-E85D-4F56-AE2B-B6396BA2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EF95E-641B-4547-99BB-14923A75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汽配 / 工业品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3A045-63A4-4E60-9052-FB15FC2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多 SKU · 频繁报价 · 采购库存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80886-2949-41C5-8CC7-8885274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9525">
            <a:solidFill>
              <a:srgbClr val="126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729CE-FD3F-4A6F-9C6D-6AC4F8B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10～100 人 · 可从一段流程开始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7F2A3-6666-47AC-896C-BCD12C2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64202-9D52-4787-978F-CDB1334D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1757461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EBC0C-D8C7-40A3-8060-C042ACF1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7～30 天试用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E3423-C696-4021-A5B5-3A077857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不用一次推翻现有系统，先验证一条真实业务链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B9F96-BC16-439B-9A76-9B85F81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AFEFD-57D9-40F0-A9CB-7AF37D5F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9D458-9A05-4DCA-9408-7DAE9C46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41119-01DC-4802-8A1D-022F03C5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0AFEF-9182-4FED-A050-C5D0B290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选择场景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AC07D-026E-467F-A89D-9A1D16E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跟进、订单库存、应收、项目或员工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FBC06-6D29-4DD1-8C2D-627E7264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62E12-1A6E-40C1-8B83-88381A26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7E4FF-7416-496A-BB44-3B7657E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准备数据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95C4B-0957-492C-AF13-12605D5E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861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脱敏客户、商品、库存或业务样例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B4E14-B1A2-4ADF-BE3C-BC4D452F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853D3-85C1-4CCA-8C8D-FDDB393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EB26F-332C-42DF-AB1A-DA51899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配置组织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F853E-CD10-4CE9-8EF4-DD45F096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参与员工、角色、数据范围和口径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34F86-CF34-4571-A048-ADE1017D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A9B58-03C1-4A6B-BB35-53D050B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C6CA2-0AFF-43BD-8ACA-7C2F24D7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479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8E20A-F4DA-4FE1-ADCB-1580133D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861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真实业务运行，并按成功指标复盘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189C6-709D-423C-BA33-D14B2BB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11811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241A8-8EB8-4F41-857A-3C001914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首周成功示例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9030B-0406-43CE-86F9-202AA114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3872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导入 100 个客户和 50 个 SKU，由 3 名销售完成 20 条真实跟进，</a:t>
            </a:r>
          </a:p>
          <a:p xmlns:a="http://schemas.openxmlformats.org/drawingml/2006/main">
            <a:pPr algn="l">
              <a:def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老板通过 AI 查到本周需要跟进的客户。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51BE5-4C44-45AB-A7FB-3E4DAAF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5ABC7-2B61-4D1F-9A10-A358E740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003281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3ED920-CE3F-40A7-A6A4-783169CB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安全与可信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1F210-445C-42B6-BBB8-FE27712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更方便，也不能绕过企业原有管理边界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22B4F-F375-4C68-9E18-A3B359A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80EA7-A313-4DDC-B402-EEB02E1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93DE9-7911-4C75-8B02-A24B609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CAAC2-3298-4E6F-8C14-0B19506C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581150" cy="167640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77776-D49A-4C0D-BAD7-DA4933B3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F9C2C-5B13-4348-8C3B-EC2B9FE9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BBF94-385C-4CDE-9367-60D18F70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员工账号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C600D-35EF-4E2C-9729-68208ECB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身份与岗位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8803-BA97-46A1-AC47-60ED0DE5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01FC0-C9E9-4A1A-B063-2E62D20C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581150" cy="167640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5C77D-578B-41E7-95CA-CC1CEE0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6E489-144F-482A-A3E8-C27172D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3892A-81F7-4608-872B-97BDFD43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可见数据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1480B-DDA7-4AAC-9389-D8FB12E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48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角色与范围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9956E-7176-4550-83F3-4A5F8B2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03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CC9D1-D453-472D-A583-838A381B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581150" cy="167640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F32C4-2EB5-4D11-8AAC-17F7A422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8E08F-EC10-4297-8F8F-A2EA76E6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19EBD-FD16-47C6-BD26-17007D58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34153-F078-4E38-8FAE-62BC068D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时间与来源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7A3AA-2A30-472A-83B1-95828A24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03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FDE2E5-14E7-4E5A-88E2-8681537A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1581150" cy="167640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D5670-FB01-4F21-BED3-F76E45AF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53D6C4-FE8E-4658-802B-E94F784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0A24D-4FFF-4A29-80C3-3ED46D56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草稿预览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928C6-EE26-4A72-8F5E-A2C5C95A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影响对象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61774C-84FA-422A-A16A-38D73F56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03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AD811-B4FC-449E-B2C9-F913D4FC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581150" cy="167640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AD77B-6ADD-47E5-97A6-16A2F33D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84467-73EC-41DE-8F87-843150A1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804B67-D20A-4E25-BB32-AF692B82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A95E9-346D-45D4-8451-6CCAF7F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修改或放弃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C514F8-C740-4CBD-B333-1B5227DB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1581150" cy="167640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A9E9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BE7739-D124-4304-B91E-8A021AF0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E40E3A-F2B8-4417-A3A0-DBE30E4C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381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A0FB09-D38B-49A4-8056-D82236FB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05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审计记录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F6BE2-F78D-45C3-B9C7-370ECC57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48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3C80F-0DD5-44EA-9F5E-284DA1E6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租户隔离 · 字段控制 · 来源下钻 · 写操作确认 · 备份与数据导出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D4824B-16EC-4E91-A79D-3E073CE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部署、模型、备份、接口和数据处理方式，在正式上线前按企业要求确认。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605D77-5C1F-4C38-ABB7-7FD443A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D5ED14-174B-46F1-A605-0C4B9C1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926798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24349-313D-43DC-A280-371562BB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套餐与实施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5688F-E7DD-42EB-9708-A75AFDB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从统一业务开始，再按 AI 和实施范围逐步扩展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72F4A-FAF7-4212-8F65-ADF5CA97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17238-6772-41BC-84FA-17990549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81354-1328-4C54-AADD-0A3FE25C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238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981E2-054A-412B-BD0E-F5FD0AD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标准版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BACEC-BD3D-46F1-9664-EF4A89B4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¥3,800 / 年起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13BC9-5844-4BB4-BE58-78B4500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705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CRM 与跟进</a:t>
            </a:r>
          </a:p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报价、订单与采购</a:t>
            </a:r>
          </a:p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库存与应收协同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6BD0C-58C2-4AC6-A7AB-9354115C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238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9F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29E25-1A15-4E11-8C88-D4C500DC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13AD4-B27C-4F5D-883C-58EE40A8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专业版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27CA3-0BEB-44DD-8746-96B02E9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¥6,800 / 年起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D4A40-B465-4DFE-91D2-5D6A2AE7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2705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标准版全部能力</a:t>
            </a:r>
          </a:p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企业助手与经营分析</a:t>
            </a:r>
          </a:p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草稿、自动化、企微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5DAE6-B7A4-43DB-BC5C-05EF389E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62125"/>
            <a:ext cx="3238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699B7-6B52-4333-9D86-455677FD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企业版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D73FC-A8AD-4D3C-B8B1-7239812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¥12,800 / 年起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016D1-4E19-4AE3-86D6-1183D8B3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2705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专业版全部能力</a:t>
            </a:r>
          </a:p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项目、工单、高级权限</a:t>
            </a:r>
          </a:p>
          <a:p xmlns:a="http://schemas.openxmlformats.org/drawingml/2006/main"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开放 API / MCP 与 AI 连接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4713B-3685-4AC9-A898-2DBED6EF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4394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A1F3A"/>
          </a:solidFill>
          <a:ln xmlns:a="http://schemas.openxmlformats.org/drawingml/2006/main" w="9525">
            <a:solidFill>
              <a:srgbClr val="0A1F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C6527-4210-4793-BF77-6033F306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97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私有部署：单独评估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267D-CD72-4280-B396-A91C8044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19725"/>
            <a:ext cx="708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DDF4"/>
                </a:solidFill>
                <a:latin typeface="Microsoft YaHei"/>
                <a:ea typeface="Microsoft YaHei"/>
                <a:cs typeface="Microsoft YaHei"/>
              </a:rPr>
              <a:t>最终报价由用户数、模块、AI 用量、数据迁移、培训、第三方平台与专属开发范围决定。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C32B6-72EA-40C2-9620-4986036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D4B43-35AF-48C3-AB8E-87F8835D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2229018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1FD29-B921-4537-8778-B086B51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ce7f23ea743fb"/>
          <a:stretch xmlns:a="http://schemas.openxmlformats.org/drawingml/2006/main"/>
        </p:blipFill>
        <p:spPr>
          <a:xfrm xmlns:a="http://schemas.openxmlformats.org/drawingml/2006/main">
            <a:off x="6905625" y="1797103"/>
            <a:ext cx="4953000" cy="2787544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D7466-BFE3-45B0-85AC-F4B93D0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86369-FDF6-4053-B36F-0AFAC7C2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用一份脱敏数据，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验证一个真实场景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078E0-EC75-426B-ABF9-FCE81C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进入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E714C-D0D5-44E1-AAF8-EE75ADD0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直接体验经营问题、风险下钻和业务草稿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C22F8-2319-47B6-B24C-E7995B6E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预约业务访谈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DB824-F0E0-45D6-B63C-A697A246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用 30 分钟选择最值得验证的一段流程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5F045-69C6-4811-A525-6B48C73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申请共创试用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26F08-08C5-4129-A669-DEB0A1A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真实数据运行 7～30 天，用结果决定下一步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92CCA-CC01-479B-8960-E83169F8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1910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2B2DB-5FE9-4C00-A311-E313E601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erp.starmin.cn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79A26-8492-47D2-A4F5-AFC109C3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A880C-0677-4F46-AB11-C3A0F65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585751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6CA7F-62A9-4B6F-8C40-FC04EAB2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82361-30F5-4AC4-83C7-F807D401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60556-5BFB-4EE2-988B-3A078D9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感谢您的时间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F2597-99DF-45E7-A999-46B03A9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52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期待与您一起，</a:t>
            </a:r>
          </a:p>
          <a:p xmlns:a="http://schemas.openxmlformats.org/drawingml/2006/main">
            <a:pPr algn="l">
              <a:def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把真实业务连接起来，</a:t>
            </a:r>
          </a:p>
          <a:p xmlns:a="http://schemas.openxmlformats.org/drawingml/2006/main">
            <a:pPr algn="l">
              <a:def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让每位员工都能用 AI 提升效率。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79F85-7D99-4388-B130-DE8DAD87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58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65F3B-4A92-48A4-A032-959920AA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系统实施顾问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18811-A683-4C65-82F3-8ECE95D8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黄健敏  Armin Wong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60D17-2AE2-4437-A221-5259F95F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微信 / 手机号：18620588898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598DB-CC01-4CD0-8F25-849A9D97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erp.starmin.cn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125D6-427B-4391-B1AC-2BB6131A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保持联系，随时体验星敏 AI ERP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DA7F9-D1D3-4F06-8481-70B9D764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1239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扫码添加实施顾问，或直接访问产品官网。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4FD9A-604D-4C66-9838-E5E0F87F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33550"/>
            <a:ext cx="2714625" cy="3714750"/>
          </a:xfrm>
          <a:prstGeom xmlns:a="http://schemas.openxmlformats.org/drawingml/2006/main" prst="roundRect">
            <a:avLst>
              <a:gd name="adj" fmla="val 77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1f0a032e04e00"/>
          <a:stretch xmlns:a="http://schemas.openxmlformats.org/drawingml/2006/main"/>
        </p:blipFill>
        <p:spPr>
          <a:xfrm xmlns:a="http://schemas.openxmlformats.org/drawingml/2006/main">
            <a:off x="5800725" y="2063125"/>
            <a:ext cx="2047875" cy="2017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B9208-7EA9-43DB-9AC7-EC72888B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86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微信咨询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73492-A17F-4AF3-9D52-25CC28B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添加系统实施顾问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D03DE-98C2-472E-BF66-4A4C6403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18620588898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12BF8-101E-46D9-AB83-E6C0A59F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33550"/>
            <a:ext cx="2714625" cy="3714750"/>
          </a:xfrm>
          <a:prstGeom xmlns:a="http://schemas.openxmlformats.org/drawingml/2006/main" prst="roundRect">
            <a:avLst>
              <a:gd name="adj" fmla="val 77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F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0015d05994a5e"/>
          <a:stretch xmlns:a="http://schemas.openxmlformats.org/drawingml/2006/main"/>
        </p:blipFill>
        <p:spPr>
          <a:xfrm xmlns:a="http://schemas.openxmlformats.org/drawingml/2006/main">
            <a:off x="8839200" y="2047875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918B2-A198-4834-82B2-42CAE5FF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86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访问官网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80A9F-7192-482B-8AC2-3C92D3C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了解产品并进入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2CAB2-2243-4EF4-8F62-D5DF0CBD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10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erp.starmin.cn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51187-B2A7-4F29-97CE-7838581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81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广州星敏智能科技有限公司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F424F-6F0B-46BC-8DE0-15807C8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04318-E4C8-494E-8813-07ED570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87070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2026-09-01T02:19:57.5600000Z</dcterms:created>
  <dcterms:modified xsi:type="dcterms:W3CDTF">2026-09-01T02:19:57.5600000Z</dcterms:modified>
</coreProperties>
</file>