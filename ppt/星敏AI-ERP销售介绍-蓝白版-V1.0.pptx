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2430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开场不讲菜单，先说明这是一套把业务数据连起来、让老板和员工使用 AI 的企业经营系统。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X:/Work/xm-im-erp-pm/docs/销售与营销/assets/ppt/connected-business-chain.png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询问客户：这五种情况里，哪两种最接近您现在的工作？根据答案调整后续演示重点。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X:/Work/xm-im-erp-pm/docs/销售与营销/assets/ppt/data-fragmentation.png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强调星敏不是悬浮聊天框，而是连接客户、报价、订单、采购、库存、发货、应收、项目和售后的业务底座。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X:/Work/xm-im-erp-pm/docs/销售与营销/assets/ppt/connected-business-chain.png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演示问题：公司今天有什么需要我注意的？强调跨模块汇总、数据基准时间和来源下钻。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X:/Work/xm-im-erp-pm/docs/Demo方案/README.md</a:t>
            </a:r>
          </a:p>
          <a:p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XM-ABS-WHITE 解释账面、预留、可用、销量、耗尽天数与采购提前期的关系。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在现场停在任务预览页，强调不会未经确认直接创建正式任务或对外发消息。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X:/Work/xm-im-erp-pm/docs/Demo方案/02-Demo造数规则与数据字典.md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讲销售示例：销售把客户询价转给 OpenClaw，AI 查询价格与可用库存，销售确认回复，并把记录提交 ERP。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X:/Work/xm-im-erp-pm/docs/销售与营销/07-员工AI接入与OpenClaw销售说明.md</a:t>
            </a:r>
          </a:p>
          <a:p>
            <a:r>
              <a:t>- X:/Work/xm-im-erp-pm/docs/销售与营销/assets/ppt/employee-ai-to-erp.png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不宣传适合所有企业。优先判断是否存在客户到回款链路、多岗位协作与数据分散问题。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X:/Work/xm-im-erp-pm/docs/销售与营销/assets/ppt/trade-equipment-company.png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强调试用不是开空账号。双方先定义场景、数据、参与人和可验证成功事件。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X:/Work/xm-im-erp-pm/docs/销售与营销/03-首批客户访谈与试用验收清单.md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不要展示未经验证的安全认证。只讲已具备或可按正式方案确认的租户、角色、来源、确认、审计、备份与导出能力。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价格均使用“起”。正式报价区分年度订阅和一次性实施，并明确 AI 额度、迁移、培训、接口与不包含内容。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X:/Work/xm-im-erp-pm/docs/销售与营销/06-套餐报价与实施服务说明.md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根据现场讨论直接提出一个具体试用场景，并确认客户负责人、星敏负责人和下一日期。</a:t>
            </a:r>
          </a:p>
          <a:p>
            <a:endParaRPr/>
          </a:p>
          <a:p>
            <a:r>
              <a:t>[Sources]</a:t>
            </a:r>
          </a:p>
          <a:p>
            <a:r>
              <a:t>- X:/Work/xm-im-erp-pm/docs/销售与营销/10-销售PPT逐页完整内容稿.md</a:t>
            </a:r>
          </a:p>
          <a:p>
            <a:r>
              <a:t>- X:/Work/xm-im-erp-pm/docs/销售与营销/assets/ppt/wechat-ai-workflow.png (built-in image_gen)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38794D-D139-4570-B7D7-9DC36D7D2C8D}"/>
              </a:ext>
            </a:extLst>
          </p:cNvPr>
          <p:cNvSpPr>
            <a:spLocks noGrp="1"/>
          </p:cNvSpPr>
          <p:nvPr/>
        </p:nvSpPr>
        <p:spPr>
          <a:xfrm>
            <a:off x="7124700" y="0"/>
            <a:ext cx="5067300" cy="6858000"/>
          </a:xfrm>
          <a:prstGeom prst="rect">
            <a:avLst/>
          </a:prstGeom>
          <a:solidFill>
            <a:srgbClr val="EEF6FF"/>
          </a:solidFill>
          <a:ln w="0">
            <a:noFill/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14544" r="14544"/>
          <a:stretch>
            <a:fillRect/>
          </a:stretch>
        </p:blipFill>
        <p:spPr>
          <a:xfrm>
            <a:off x="6000750" y="1000125"/>
            <a:ext cx="6000750" cy="4762500"/>
          </a:xfrm>
          <a:prstGeom prst="roundRect">
            <a:avLst>
              <a:gd name="adj" fmla="val 4000"/>
            </a:avLst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3659C1A-5533-4AB7-BA30-1313D9770F3B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STARMIN · AI NATIVE ERP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8BCDA7-DB0E-48F4-A612-F66AF2B20F5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星敏 AI ERP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C2AA32-C0A8-4806-B554-4A36275359C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048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让企业从“人找数据”</a:t>
            </a:r>
          </a:p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变成“AI 找数据、办业务”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347700-0981-472C-B963-1158441C4DC4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 · 销售 · 采购 · 库存 · 应收 · 项目 · 售后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6E56E8F-684C-48B3-959F-1AD791E193B1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695450" cy="4381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9525">
            <a:solidFill>
              <a:srgbClr val="1267E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79457F-784A-48B3-8AAA-C42FAE8351E4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422"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企业经营，直接问 AI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C9F961-F54D-4A91-8806-82DB4098CF12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面向贸易、设备销售和工业品企业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CFAD29-4883-4A1B-817B-7316F2CBC96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广州星敏智能科技有限公司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7283E79-FCB5-24D3-DC55-30033FEFA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569" y="1214836"/>
            <a:ext cx="1182106" cy="11664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2064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2778"/>
            </a:avLst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6E13334-4249-44FB-980C-A3008EBD87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F8FBF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70E4B-2514-439E-A383-FBD94466DA03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每天的真实摩擦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3FA763-355F-4137-BDF0-107A68DA7E49}"/>
              </a:ext>
            </a:extLst>
          </p:cNvPr>
          <p:cNvSpPr>
            <a:spLocks noGrp="1"/>
          </p:cNvSpPr>
          <p:nvPr/>
        </p:nvSpPr>
        <p:spPr>
          <a:xfrm>
            <a:off x="666750" y="628649"/>
            <a:ext cx="10096500" cy="1044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客户在微信里，订单在</a:t>
            </a:r>
            <a:r>
              <a:rPr sz="3150" b="1" dirty="0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lang="en-US" sz="3150" b="1" dirty="0">
              <a:solidFill>
                <a:srgbClr val="0A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Excel </a:t>
            </a:r>
            <a:r>
              <a:rPr sz="3150" b="1" dirty="0" err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里，库存还要到处问</a:t>
            </a:r>
            <a:r>
              <a:rPr sz="3150" b="1" dirty="0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5760D2-8E86-4EDB-B1A6-DE9D55F4C11C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DBA7A9-4A4D-48B0-9344-39A10025E152}"/>
              </a:ext>
            </a:extLst>
          </p:cNvPr>
          <p:cNvSpPr>
            <a:spLocks noGrp="1"/>
          </p:cNvSpPr>
          <p:nvPr/>
        </p:nvSpPr>
        <p:spPr>
          <a:xfrm>
            <a:off x="666750" y="181927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1D116D-E2E4-473B-B888-69476688DE43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4476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客户资料散在员工微信、通讯录和表格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报价、订单、采购反复复制和录入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账面有库存，接单后才发现已被预留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应收逾期和项目风险发现得太晚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  <a:p>
            <a:pPr marL="22" indent="-12">
              <a:lnSpc>
                <a:spcPct val="108000"/>
              </a:lnSpc>
              <a:buNone/>
              <a:defRPr sz="150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系统里有数据，老板仍然要等报表</a:t>
            </a:r>
            <a:endParaRPr sz="1500" dirty="0">
              <a:solidFill>
                <a:srgbClr val="1323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600446B-1407-4EBC-A712-DC7A30EBAF6B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4476750" cy="857250"/>
          </a:xfrm>
          <a:prstGeom prst="roundRect">
            <a:avLst>
              <a:gd name="adj" fmla="val 17778"/>
            </a:avLst>
          </a:prstGeom>
          <a:solidFill>
            <a:srgbClr val="EEF6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9FD479-E7DC-4553-BB03-9E2BE20D31C5}"/>
              </a:ext>
            </a:extLst>
          </p:cNvPr>
          <p:cNvSpPr>
            <a:spLocks noGrp="1"/>
          </p:cNvSpPr>
          <p:nvPr/>
        </p:nvSpPr>
        <p:spPr>
          <a:xfrm>
            <a:off x="895350" y="4810125"/>
            <a:ext cx="4048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问题不是缺少一张表</a:t>
            </a:r>
            <a:r>
              <a:rPr sz="1575" b="1" dirty="0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而是客户到回款没有形成连续业务链</a:t>
            </a:r>
            <a:r>
              <a:rPr sz="1575" b="1" dirty="0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2E7C0B-3396-47D3-A3A6-D659123EF854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CB23F4-F1EF-439E-A667-C98EE8B894D0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563337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527C15C-A95C-485E-A524-C94CFC2FF2C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业务底座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C62538-26F2-4EEC-9C40-0F970483ED5A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同一份业务数据，贯穿客户到回款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5F0AD4-E3D4-4104-ADF8-3FB63568C397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5DB7E5-2266-41FC-8002-6B3DF17B8E9A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772949"/>
            <a:ext cx="7239000" cy="4074102"/>
          </a:xfrm>
          <a:prstGeom prst="roundRect">
            <a:avLst>
              <a:gd name="adj" fmla="val 4348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E424D4A-6953-4946-9FBA-AA3ADFA3B33A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数据只录一次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39CD22-7F4A-497B-A59B-72FD8B0B8347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客户和商品在后续环节持续复用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ABEFB0-A5F1-4352-B01D-DF58C4AA64FF}"/>
              </a:ext>
            </a:extLst>
          </p:cNvPr>
          <p:cNvSpPr>
            <a:spLocks noGrp="1"/>
          </p:cNvSpPr>
          <p:nvPr/>
        </p:nvSpPr>
        <p:spPr>
          <a:xfrm>
            <a:off x="8286750" y="2952750"/>
            <a:ext cx="285750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324387-63D3-4296-B378-BE21AF4DE5D3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跨部门看同一进度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C3F1F2-86A1-43D6-AEB6-4A75B450A321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销售、采购、仓库、财务与项目不再各自解释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7D39AF-DD1B-4BBA-8F93-D9F8D8B2B245}"/>
              </a:ext>
            </a:extLst>
          </p:cNvPr>
          <p:cNvSpPr>
            <a:spLocks noGrp="1"/>
          </p:cNvSpPr>
          <p:nvPr/>
        </p:nvSpPr>
        <p:spPr>
          <a:xfrm>
            <a:off x="8286750" y="4400550"/>
            <a:ext cx="285750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5B7CA2-742A-470A-9C7C-DBA9C108E56B}"/>
              </a:ext>
            </a:extLst>
          </p:cNvPr>
          <p:cNvSpPr>
            <a:spLocks noGrp="1"/>
          </p:cNvSpPr>
          <p:nvPr/>
        </p:nvSpPr>
        <p:spPr>
          <a:xfrm>
            <a:off x="8286750" y="4667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贯穿全部节点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C457F0-3618-4A3E-ADB2-83C6E9FE83D5}"/>
              </a:ext>
            </a:extLst>
          </p:cNvPr>
          <p:cNvSpPr>
            <a:spLocks noGrp="1"/>
          </p:cNvSpPr>
          <p:nvPr/>
        </p:nvSpPr>
        <p:spPr>
          <a:xfrm>
            <a:off x="8286750" y="50482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查询 → 判断 → 员工确认后的业务动作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D24B25-5ABA-45FC-BB94-4E5DA97F9EF2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2738F5-01CF-43A8-AA8A-C8938BB14BA7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908283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5F1A14D-97B5-4947-A494-627F3D5A5D6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经营入口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7CB9DB-9B64-4092-8944-ECD7D43F141A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一句话，先看今天最需要处理的经营风险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82CA89-D8E6-4D97-9BDF-039219873FA5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A64DEC-38B9-4CC4-9436-1C7FB7B73BEA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9084F7C-D3C2-4C4C-B2C3-FF083A0D97F4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4953000" cy="369570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6460EF-27BB-4E48-B764-6E1D85F47CCA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你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3891B9-B062-4603-A69B-EC8E1249E28B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4286250" cy="68580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9525">
            <a:solidFill>
              <a:srgbClr val="EEF6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07E61C-05CD-47A9-BF5A-E818BBB3FBA2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3857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公司今天有什么需要我注意的？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5CD94B-4DBE-401B-A098-97143B082B8A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3ED398-3749-4C8A-B40F-44D37EFEED18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42291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按影响优先级汇总销售、库存、应收、项目和售后，</a:t>
            </a:r>
          </a:p>
          <a:p>
            <a:pPr algn="l">
              <a:def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每个结论都可以继续查看来源明细。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7C97834-8CC2-47C0-B4ED-29F81053B73C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1771650" cy="361950"/>
          </a:xfrm>
          <a:prstGeom prst="roundRect">
            <a:avLst>
              <a:gd name="adj" fmla="val 47368"/>
            </a:avLst>
          </a:prstGeom>
          <a:solidFill>
            <a:srgbClr val="1267E8"/>
          </a:solidFill>
          <a:ln w="9525">
            <a:solidFill>
              <a:srgbClr val="1267E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FDFAA5-D997-4491-9BB9-CFA1268EFB23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查看来源明细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49201D5-0794-4563-8EB1-1E98F689EA97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EEE2A8-CB2D-48E6-BC39-30C8B08C06E4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76200" cy="628650"/>
          </a:xfrm>
          <a:prstGeom prst="rect">
            <a:avLst/>
          </a:prstGeom>
          <a:solidFill>
            <a:srgbClr val="E94D5B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2607E5-8B5F-4DD5-BF7E-172E56E3545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逾期应收</a:t>
            </a:r>
            <a:endParaRPr sz="1200" b="0" dirty="0">
              <a:solidFill>
                <a:srgbClr val="6073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934888-008F-4101-A718-DB6FE059C02B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rPr>
              <a:t>5 笔 · ¥196,800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9C02907-F52E-4786-892F-CFFEC9AB6DE2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5073EE-4C3F-4682-8E66-A894C4A09105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76200" cy="6286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4C8320-2480-4434-91D4-FC5EBEA024F0}"/>
              </a:ext>
            </a:extLst>
          </p:cNvPr>
          <p:cNvSpPr>
            <a:spLocks noGrp="1"/>
          </p:cNvSpPr>
          <p:nvPr/>
        </p:nvSpPr>
        <p:spPr>
          <a:xfrm>
            <a:off x="6477000" y="26098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低库存</a:t>
            </a:r>
            <a:endParaRPr sz="1200" b="0" dirty="0">
              <a:solidFill>
                <a:srgbClr val="6073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AEC9F6-A31E-44E1-8256-966F7EA6D4AF}"/>
              </a:ext>
            </a:extLst>
          </p:cNvPr>
          <p:cNvSpPr>
            <a:spLocks noGrp="1"/>
          </p:cNvSpPr>
          <p:nvPr/>
        </p:nvSpPr>
        <p:spPr>
          <a:xfrm>
            <a:off x="8096250" y="25908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 个 SKU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1DEED35-CE19-4D9E-A8C5-9C69D56582E1}"/>
              </a:ext>
            </a:extLst>
          </p:cNvPr>
          <p:cNvSpPr>
            <a:spLocks noGrp="1"/>
          </p:cNvSpPr>
          <p:nvPr/>
        </p:nvSpPr>
        <p:spPr>
          <a:xfrm>
            <a:off x="6191250" y="33147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F4EAC97-9567-41A7-9A9E-6731B0A21E47}"/>
              </a:ext>
            </a:extLst>
          </p:cNvPr>
          <p:cNvSpPr>
            <a:spLocks noGrp="1"/>
          </p:cNvSpPr>
          <p:nvPr/>
        </p:nvSpPr>
        <p:spPr>
          <a:xfrm>
            <a:off x="6191250" y="3314700"/>
            <a:ext cx="76200" cy="628650"/>
          </a:xfrm>
          <a:prstGeom prst="rect">
            <a:avLst/>
          </a:prstGeom>
          <a:solidFill>
            <a:srgbClr val="E94D5B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3DABCD-7477-4D9B-B9A6-346392298223}"/>
              </a:ext>
            </a:extLst>
          </p:cNvPr>
          <p:cNvSpPr>
            <a:spLocks noGrp="1"/>
          </p:cNvSpPr>
          <p:nvPr/>
        </p:nvSpPr>
        <p:spPr>
          <a:xfrm>
            <a:off x="6477000" y="3409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延期项目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EB863F-B3D9-48BA-ABDF-02CC80C6055D}"/>
              </a:ext>
            </a:extLst>
          </p:cNvPr>
          <p:cNvSpPr>
            <a:spLocks noGrp="1"/>
          </p:cNvSpPr>
          <p:nvPr/>
        </p:nvSpPr>
        <p:spPr>
          <a:xfrm>
            <a:off x="8096250" y="33909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4D5B"/>
                </a:solidFill>
                <a:latin typeface="Microsoft YaHei"/>
                <a:ea typeface="Microsoft YaHei"/>
                <a:cs typeface="Microsoft YaHei"/>
              </a:rPr>
              <a:t>2 个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F8F9CFD-9BD2-4A72-A1B6-B31C753356A9}"/>
              </a:ext>
            </a:extLst>
          </p:cNvPr>
          <p:cNvSpPr>
            <a:spLocks noGrp="1"/>
          </p:cNvSpPr>
          <p:nvPr/>
        </p:nvSpPr>
        <p:spPr>
          <a:xfrm>
            <a:off x="6191250" y="41148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DEB617-D847-4BC7-B0CA-69D03A9CA436}"/>
              </a:ext>
            </a:extLst>
          </p:cNvPr>
          <p:cNvSpPr>
            <a:spLocks noGrp="1"/>
          </p:cNvSpPr>
          <p:nvPr/>
        </p:nvSpPr>
        <p:spPr>
          <a:xfrm>
            <a:off x="6191250" y="4114800"/>
            <a:ext cx="76200" cy="6286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67FD94C-1195-41E8-B163-C432708A800F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SLA </a:t>
            </a:r>
            <a:r>
              <a:rPr sz="1200" b="0" dirty="0" err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风险</a:t>
            </a:r>
            <a:endParaRPr sz="1200" b="0" dirty="0">
              <a:solidFill>
                <a:srgbClr val="6073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7089EA-F291-4EED-9A39-E019BE26471A}"/>
              </a:ext>
            </a:extLst>
          </p:cNvPr>
          <p:cNvSpPr>
            <a:spLocks noGrp="1"/>
          </p:cNvSpPr>
          <p:nvPr/>
        </p:nvSpPr>
        <p:spPr>
          <a:xfrm>
            <a:off x="8096250" y="41910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3 张 · 1 张超时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E1712FB-B390-4D8C-9945-B3CBC6760811}"/>
              </a:ext>
            </a:extLst>
          </p:cNvPr>
          <p:cNvSpPr>
            <a:spLocks noGrp="1"/>
          </p:cNvSpPr>
          <p:nvPr/>
        </p:nvSpPr>
        <p:spPr>
          <a:xfrm>
            <a:off x="6191250" y="4914900"/>
            <a:ext cx="4762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03DAF8-0E14-4A5E-A1E5-2E9852444525}"/>
              </a:ext>
            </a:extLst>
          </p:cNvPr>
          <p:cNvSpPr>
            <a:spLocks noGrp="1"/>
          </p:cNvSpPr>
          <p:nvPr/>
        </p:nvSpPr>
        <p:spPr>
          <a:xfrm>
            <a:off x="6191250" y="4914900"/>
            <a:ext cx="76200" cy="62865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3F2AD0-7B44-4C2C-B775-06D28A0EAE92}"/>
              </a:ext>
            </a:extLst>
          </p:cNvPr>
          <p:cNvSpPr>
            <a:spLocks noGrp="1"/>
          </p:cNvSpPr>
          <p:nvPr/>
        </p:nvSpPr>
        <p:spPr>
          <a:xfrm>
            <a:off x="6477000" y="5010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超期未跟进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CEF582-19FF-4A11-B4E9-719FC74D1999}"/>
              </a:ext>
            </a:extLst>
          </p:cNvPr>
          <p:cNvSpPr>
            <a:spLocks noGrp="1"/>
          </p:cNvSpPr>
          <p:nvPr/>
        </p:nvSpPr>
        <p:spPr>
          <a:xfrm>
            <a:off x="8096250" y="49911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6 家 · ¥468,000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8DF5AF6-4502-4413-9825-8993A6B47C55}"/>
              </a:ext>
            </a:extLst>
          </p:cNvPr>
          <p:cNvSpPr>
            <a:spLocks noGrp="1"/>
          </p:cNvSpPr>
          <p:nvPr/>
        </p:nvSpPr>
        <p:spPr>
          <a:xfrm>
            <a:off x="6191250" y="58864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星海智能设备有限公司 · 演示数据 · 基准日 2026-08-30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D681B8-D973-4FD0-B778-25C1CF15112D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7B80872-D2E7-48E7-9E47-D50FA2FF8F1F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00992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63831B1-90AE-49F9-966C-6F66BEDB797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判断有口径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5A38C1-58B3-4433-8911-A9B114D5D9EE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“账面有货”不等于“现在能卖”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6B1C99-8DC5-494C-9001-40E80ADF2C34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256564-21DF-4DCF-B6F8-0B570A1DC8A1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3AEC817-5648-4B64-AD8A-157B959A99A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676400" cy="1428750"/>
          </a:xfrm>
          <a:prstGeom prst="roundRect">
            <a:avLst>
              <a:gd name="adj" fmla="val 14667"/>
            </a:avLst>
          </a:prstGeom>
          <a:solidFill>
            <a:srgbClr val="F7FA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FB8D24-DD72-4722-8118-E3CD7FE28598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8AD3BB-332E-4CB3-9FFD-450F3CC8F97E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账面库存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7F92F8-67ED-4906-9F18-74FE9C9D130A}"/>
              </a:ext>
            </a:extLst>
          </p:cNvPr>
          <p:cNvSpPr>
            <a:spLocks noGrp="1"/>
          </p:cNvSpPr>
          <p:nvPr/>
        </p:nvSpPr>
        <p:spPr>
          <a:xfrm>
            <a:off x="2438400" y="2381250"/>
            <a:ext cx="34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1D8735B-4BD2-44B1-82A7-440C58A17DA6}"/>
              </a:ext>
            </a:extLst>
          </p:cNvPr>
          <p:cNvSpPr>
            <a:spLocks noGrp="1"/>
          </p:cNvSpPr>
          <p:nvPr/>
        </p:nvSpPr>
        <p:spPr>
          <a:xfrm>
            <a:off x="2876550" y="1952625"/>
            <a:ext cx="1676400" cy="1428750"/>
          </a:xfrm>
          <a:prstGeom prst="roundRect">
            <a:avLst>
              <a:gd name="adj" fmla="val 14667"/>
            </a:avLst>
          </a:prstGeom>
          <a:solidFill>
            <a:srgbClr val="F7FA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F3C468-7667-4FBA-8FE5-D00A13AD2C7C}"/>
              </a:ext>
            </a:extLst>
          </p:cNvPr>
          <p:cNvSpPr>
            <a:spLocks noGrp="1"/>
          </p:cNvSpPr>
          <p:nvPr/>
        </p:nvSpPr>
        <p:spPr>
          <a:xfrm>
            <a:off x="3048000" y="21336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−6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DB9BE9-B3ED-45C4-B53F-E829D5A685DD}"/>
              </a:ext>
            </a:extLst>
          </p:cNvPr>
          <p:cNvSpPr>
            <a:spLocks noGrp="1"/>
          </p:cNvSpPr>
          <p:nvPr/>
        </p:nvSpPr>
        <p:spPr>
          <a:xfrm>
            <a:off x="3048000" y="2781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销售预留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E0BD8D-2A17-4263-BAC9-C8AEC0CDDD5B}"/>
              </a:ext>
            </a:extLst>
          </p:cNvPr>
          <p:cNvSpPr>
            <a:spLocks noGrp="1"/>
          </p:cNvSpPr>
          <p:nvPr/>
        </p:nvSpPr>
        <p:spPr>
          <a:xfrm>
            <a:off x="4629150" y="2381250"/>
            <a:ext cx="34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CFD8090-2133-4A7B-AFAE-4D5CCFA2B96D}"/>
              </a:ext>
            </a:extLst>
          </p:cNvPr>
          <p:cNvSpPr>
            <a:spLocks noGrp="1"/>
          </p:cNvSpPr>
          <p:nvPr/>
        </p:nvSpPr>
        <p:spPr>
          <a:xfrm>
            <a:off x="5067300" y="1952625"/>
            <a:ext cx="1676400" cy="1428750"/>
          </a:xfrm>
          <a:prstGeom prst="roundRect">
            <a:avLst>
              <a:gd name="adj" fmla="val 14667"/>
            </a:avLst>
          </a:prstGeom>
          <a:solidFill>
            <a:srgbClr val="F7FA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BC7BD0-DCF5-4577-9C66-29B983CA6630}"/>
              </a:ext>
            </a:extLst>
          </p:cNvPr>
          <p:cNvSpPr>
            <a:spLocks noGrp="1"/>
          </p:cNvSpPr>
          <p:nvPr/>
        </p:nvSpPr>
        <p:spPr>
          <a:xfrm>
            <a:off x="5238750" y="21336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−2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29CBEC-FC12-4C9E-9B42-32EF0BA980AF}"/>
              </a:ext>
            </a:extLst>
          </p:cNvPr>
          <p:cNvSpPr>
            <a:spLocks noGrp="1"/>
          </p:cNvSpPr>
          <p:nvPr/>
        </p:nvSpPr>
        <p:spPr>
          <a:xfrm>
            <a:off x="5238750" y="2781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项目预留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AFF69F-C6A1-43AD-9837-5F8B02D499BC}"/>
              </a:ext>
            </a:extLst>
          </p:cNvPr>
          <p:cNvSpPr>
            <a:spLocks noGrp="1"/>
          </p:cNvSpPr>
          <p:nvPr/>
        </p:nvSpPr>
        <p:spPr>
          <a:xfrm>
            <a:off x="6819900" y="2381250"/>
            <a:ext cx="34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9E6D6A8-78F2-4A97-A149-DE964DD2AF60}"/>
              </a:ext>
            </a:extLst>
          </p:cNvPr>
          <p:cNvSpPr>
            <a:spLocks noGrp="1"/>
          </p:cNvSpPr>
          <p:nvPr/>
        </p:nvSpPr>
        <p:spPr>
          <a:xfrm>
            <a:off x="7258050" y="1952625"/>
            <a:ext cx="1676400" cy="1428750"/>
          </a:xfrm>
          <a:prstGeom prst="roundRect">
            <a:avLst>
              <a:gd name="adj" fmla="val 14667"/>
            </a:avLst>
          </a:prstGeom>
          <a:solidFill>
            <a:srgbClr val="EAFBF5"/>
          </a:solidFill>
          <a:ln w="9525">
            <a:solidFill>
              <a:srgbClr val="A9E9D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B438F4-E6B2-4D10-8FAB-E93CBA9FB0BE}"/>
              </a:ext>
            </a:extLst>
          </p:cNvPr>
          <p:cNvSpPr>
            <a:spLocks noGrp="1"/>
          </p:cNvSpPr>
          <p:nvPr/>
        </p:nvSpPr>
        <p:spPr>
          <a:xfrm>
            <a:off x="7429500" y="21336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577ABB-C004-44EF-AAD5-B3E5E5B7708A}"/>
              </a:ext>
            </a:extLst>
          </p:cNvPr>
          <p:cNvSpPr>
            <a:spLocks noGrp="1"/>
          </p:cNvSpPr>
          <p:nvPr/>
        </p:nvSpPr>
        <p:spPr>
          <a:xfrm>
            <a:off x="7429500" y="2781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当前可用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00337FE-B4EE-41CE-AF14-A6C35DD96942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2000250" cy="1428750"/>
          </a:xfrm>
          <a:prstGeom prst="roundRect">
            <a:avLst>
              <a:gd name="adj" fmla="val 14667"/>
            </a:avLst>
          </a:prstGeom>
          <a:solidFill>
            <a:srgbClr val="0A1F3A"/>
          </a:solidFill>
          <a:ln w="9525">
            <a:solidFill>
              <a:srgbClr val="0A1F3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3AA97C-064C-40DA-811E-8C381527C755}"/>
              </a:ext>
            </a:extLst>
          </p:cNvPr>
          <p:cNvSpPr>
            <a:spLocks noGrp="1"/>
          </p:cNvSpPr>
          <p:nvPr/>
        </p:nvSpPr>
        <p:spPr>
          <a:xfrm>
            <a:off x="9715500" y="21431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4 天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8FA713-2F71-4834-A694-ADCAC715341F}"/>
              </a:ext>
            </a:extLst>
          </p:cNvPr>
          <p:cNvSpPr>
            <a:spLocks noGrp="1"/>
          </p:cNvSpPr>
          <p:nvPr/>
        </p:nvSpPr>
        <p:spPr>
          <a:xfrm>
            <a:off x="9715500" y="27813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BCD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CD7F5"/>
                </a:solidFill>
                <a:latin typeface="Microsoft YaHei"/>
                <a:ea typeface="Microsoft YaHei"/>
                <a:cs typeface="Microsoft YaHei"/>
              </a:rPr>
              <a:t>预计耗尽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E886EF0-9148-4EB7-B8E6-62673FCAF640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1257300"/>
          </a:xfrm>
          <a:prstGeom prst="roundRect">
            <a:avLst>
              <a:gd name="adj" fmla="val 15152"/>
            </a:avLst>
          </a:prstGeom>
          <a:solidFill>
            <a:srgbClr val="EEF6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9AAA7B-74E3-4198-8231-81DB1EE28C0D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105 箱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2B1323-D00D-4E83-8920-843FAA2D5A64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近 30 天销量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8B70F4-34ED-48C0-9ED1-E919B5BAF017}"/>
              </a:ext>
            </a:extLst>
          </p:cNvPr>
          <p:cNvSpPr>
            <a:spLocks noGrp="1"/>
          </p:cNvSpPr>
          <p:nvPr/>
        </p:nvSpPr>
        <p:spPr>
          <a:xfrm>
            <a:off x="3238500" y="4171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3.5 箱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BE4F1-2F24-4F89-8EB9-6FBCB3132275}"/>
              </a:ext>
            </a:extLst>
          </p:cNvPr>
          <p:cNvSpPr>
            <a:spLocks noGrp="1"/>
          </p:cNvSpPr>
          <p:nvPr/>
        </p:nvSpPr>
        <p:spPr>
          <a:xfrm>
            <a:off x="3238500" y="4552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日均销量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821254-C414-4D21-8130-934FDA9A207A}"/>
              </a:ext>
            </a:extLst>
          </p:cNvPr>
          <p:cNvSpPr>
            <a:spLocks noGrp="1"/>
          </p:cNvSpPr>
          <p:nvPr/>
        </p:nvSpPr>
        <p:spPr>
          <a:xfrm>
            <a:off x="5486400" y="4171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9 天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46B73B-A7BA-49E4-AC80-B38D33123EEA}"/>
              </a:ext>
            </a:extLst>
          </p:cNvPr>
          <p:cNvSpPr>
            <a:spLocks noGrp="1"/>
          </p:cNvSpPr>
          <p:nvPr/>
        </p:nvSpPr>
        <p:spPr>
          <a:xfrm>
            <a:off x="5486400" y="4552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采购提前期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117A69-BBFF-404B-90F3-CF3B9FBC944F}"/>
              </a:ext>
            </a:extLst>
          </p:cNvPr>
          <p:cNvSpPr>
            <a:spLocks noGrp="1"/>
          </p:cNvSpPr>
          <p:nvPr/>
        </p:nvSpPr>
        <p:spPr>
          <a:xfrm>
            <a:off x="7734300" y="4171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A979"/>
                </a:solidFill>
                <a:latin typeface="Microsoft YaHei"/>
                <a:ea typeface="Microsoft YaHei"/>
                <a:cs typeface="Microsoft YaHei"/>
              </a:rPr>
              <a:t>60 箱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DD2E9F-619F-492B-BA71-7C167E469DFF}"/>
              </a:ext>
            </a:extLst>
          </p:cNvPr>
          <p:cNvSpPr>
            <a:spLocks noGrp="1"/>
          </p:cNvSpPr>
          <p:nvPr/>
        </p:nvSpPr>
        <p:spPr>
          <a:xfrm>
            <a:off x="7734300" y="45529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建议采购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E0BAAE6-8808-4E12-A7B6-C8BDBBFF0F82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结论 → 计算口径 → 来源明细 → 下一步建议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2D77D18-1233-47CB-B44F-2AD8A9E4B84D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0FBBE1-6249-408A-9F4E-66AE4B26E2D6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80820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2C6BE979-7A6F-4F6C-95D1-13F3F64D2922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从回答到行动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068776-A2F0-490D-B4F1-1F67AD3C63D7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先查清对象，再让员工确认下一步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B39420-ABCD-40F5-AF6F-A65FE827F7F8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E642B1-FA92-4C3E-ABC6-3A4F3E2A67A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173B59-0B2B-4E87-B006-9E9944263868}"/>
              </a:ext>
            </a:extLst>
          </p:cNvPr>
          <p:cNvSpPr>
            <a:spLocks noGrp="1"/>
          </p:cNvSpPr>
          <p:nvPr/>
        </p:nvSpPr>
        <p:spPr>
          <a:xfrm>
            <a:off x="904875" y="1752600"/>
            <a:ext cx="1038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“哪些客户超过 15 天没跟进，而且开放商机大于 5 万？”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C3F3E2-A7D4-44CB-A3A7-19A72CCE8449}"/>
              </a:ext>
            </a:extLst>
          </p:cNvPr>
          <p:cNvSpPr>
            <a:spLocks noGrp="1"/>
          </p:cNvSpPr>
          <p:nvPr/>
        </p:nvSpPr>
        <p:spPr>
          <a:xfrm>
            <a:off x="2762250" y="3314700"/>
            <a:ext cx="685800" cy="47625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B4FD11A-DAC4-4BFD-93F7-20DD1742CFA6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238375" cy="1676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4A0423-4672-420B-9B41-3CF9900AB4D5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4E5111-3238-4DE7-95FC-0B6E098B5CD2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查询对象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6FD6BE-C6F4-4B8D-AD37-0072F3D2918B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6 家客户</a:t>
            </a:r>
          </a:p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商机合计 ¥468,000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6A558D-181E-4709-9CDA-421C4796C468}"/>
              </a:ext>
            </a:extLst>
          </p:cNvPr>
          <p:cNvSpPr>
            <a:spLocks noGrp="1"/>
          </p:cNvSpPr>
          <p:nvPr/>
        </p:nvSpPr>
        <p:spPr>
          <a:xfrm>
            <a:off x="5543550" y="3314700"/>
            <a:ext cx="685800" cy="47625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320A67-0522-42EF-9FEA-473409A1DBF2}"/>
              </a:ext>
            </a:extLst>
          </p:cNvPr>
          <p:cNvSpPr>
            <a:spLocks noGrp="1"/>
          </p:cNvSpPr>
          <p:nvPr/>
        </p:nvSpPr>
        <p:spPr>
          <a:xfrm>
            <a:off x="3448050" y="2619375"/>
            <a:ext cx="2238375" cy="1676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C5AB37-CAB3-4CDF-93EA-5A1DCE589CFD}"/>
              </a:ext>
            </a:extLst>
          </p:cNvPr>
          <p:cNvSpPr>
            <a:spLocks noGrp="1"/>
          </p:cNvSpPr>
          <p:nvPr/>
        </p:nvSpPr>
        <p:spPr>
          <a:xfrm>
            <a:off x="3657600" y="2800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092FA9-0616-4466-9FAB-B7C3476A6799}"/>
              </a:ext>
            </a:extLst>
          </p:cNvPr>
          <p:cNvSpPr>
            <a:spLocks noGrp="1"/>
          </p:cNvSpPr>
          <p:nvPr/>
        </p:nvSpPr>
        <p:spPr>
          <a:xfrm>
            <a:off x="3657600" y="3200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解释规则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83DC44-EF14-41FF-8284-D5CEC173CEDE}"/>
              </a:ext>
            </a:extLst>
          </p:cNvPr>
          <p:cNvSpPr>
            <a:spLocks noGrp="1"/>
          </p:cNvSpPr>
          <p:nvPr/>
        </p:nvSpPr>
        <p:spPr>
          <a:xfrm>
            <a:off x="3657600" y="3638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未跟进天数</a:t>
            </a:r>
          </a:p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开放商机金额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5310CF-7619-4157-960F-B440E603ABEE}"/>
              </a:ext>
            </a:extLst>
          </p:cNvPr>
          <p:cNvSpPr>
            <a:spLocks noGrp="1"/>
          </p:cNvSpPr>
          <p:nvPr/>
        </p:nvSpPr>
        <p:spPr>
          <a:xfrm>
            <a:off x="8324850" y="3314700"/>
            <a:ext cx="685800" cy="47625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D265EA6-4197-4A3E-A971-5B06C6AAAB47}"/>
              </a:ext>
            </a:extLst>
          </p:cNvPr>
          <p:cNvSpPr>
            <a:spLocks noGrp="1"/>
          </p:cNvSpPr>
          <p:nvPr/>
        </p:nvSpPr>
        <p:spPr>
          <a:xfrm>
            <a:off x="6229350" y="2619375"/>
            <a:ext cx="2238375" cy="1676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A2C73B-A1E6-4C4F-A165-3D191BD2EDDC}"/>
              </a:ext>
            </a:extLst>
          </p:cNvPr>
          <p:cNvSpPr>
            <a:spLocks noGrp="1"/>
          </p:cNvSpPr>
          <p:nvPr/>
        </p:nvSpPr>
        <p:spPr>
          <a:xfrm>
            <a:off x="6438900" y="2800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12729A-8159-4D34-A5CF-CF351F8BA0FB}"/>
              </a:ext>
            </a:extLst>
          </p:cNvPr>
          <p:cNvSpPr>
            <a:spLocks noGrp="1"/>
          </p:cNvSpPr>
          <p:nvPr/>
        </p:nvSpPr>
        <p:spPr>
          <a:xfrm>
            <a:off x="6438900" y="3200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预览影响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0F3DAC-C3D3-4B06-8419-17999315DFA6}"/>
              </a:ext>
            </a:extLst>
          </p:cNvPr>
          <p:cNvSpPr>
            <a:spLocks noGrp="1"/>
          </p:cNvSpPr>
          <p:nvPr/>
        </p:nvSpPr>
        <p:spPr>
          <a:xfrm>
            <a:off x="6438900" y="3638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负责人 · 日期</a:t>
            </a:r>
          </a:p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任务内容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BB14457-A2F6-42C1-9712-88E277269969}"/>
              </a:ext>
            </a:extLst>
          </p:cNvPr>
          <p:cNvSpPr>
            <a:spLocks noGrp="1"/>
          </p:cNvSpPr>
          <p:nvPr/>
        </p:nvSpPr>
        <p:spPr>
          <a:xfrm>
            <a:off x="9010650" y="2619375"/>
            <a:ext cx="2238375" cy="1676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ABBF78C-1FC5-41FC-9CBC-546F1353760B}"/>
              </a:ext>
            </a:extLst>
          </p:cNvPr>
          <p:cNvSpPr>
            <a:spLocks noGrp="1"/>
          </p:cNvSpPr>
          <p:nvPr/>
        </p:nvSpPr>
        <p:spPr>
          <a:xfrm>
            <a:off x="9220200" y="2800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2F4A9F-8BDB-44FC-A9C3-6355ACC6A928}"/>
              </a:ext>
            </a:extLst>
          </p:cNvPr>
          <p:cNvSpPr>
            <a:spLocks noGrp="1"/>
          </p:cNvSpPr>
          <p:nvPr/>
        </p:nvSpPr>
        <p:spPr>
          <a:xfrm>
            <a:off x="9220200" y="3200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员工确认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8258A4-A30F-4DCC-A161-A9BFCEE4AFA1}"/>
              </a:ext>
            </a:extLst>
          </p:cNvPr>
          <p:cNvSpPr>
            <a:spLocks noGrp="1"/>
          </p:cNvSpPr>
          <p:nvPr/>
        </p:nvSpPr>
        <p:spPr>
          <a:xfrm>
            <a:off x="9220200" y="3638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修改 / 放弃 / 创建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F4CC3B6-445D-4199-9E23-BEF4EC20BD09}"/>
              </a:ext>
            </a:extLst>
          </p:cNvPr>
          <p:cNvSpPr>
            <a:spLocks noGrp="1"/>
          </p:cNvSpPr>
          <p:nvPr/>
        </p:nvSpPr>
        <p:spPr>
          <a:xfrm>
            <a:off x="1952625" y="4857750"/>
            <a:ext cx="8286750" cy="723900"/>
          </a:xfrm>
          <a:prstGeom prst="roundRect">
            <a:avLst>
              <a:gd name="adj" fmla="val 26316"/>
            </a:avLst>
          </a:prstGeom>
          <a:solidFill>
            <a:srgbClr val="EAF4FF"/>
          </a:solidFill>
          <a:ln w="9525">
            <a:solidFill>
              <a:srgbClr val="BBD8F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161A5D-1EB2-495A-AFF7-7AD12AC85981}"/>
              </a:ext>
            </a:extLst>
          </p:cNvPr>
          <p:cNvSpPr>
            <a:spLocks noGrp="1"/>
          </p:cNvSpPr>
          <p:nvPr/>
        </p:nvSpPr>
        <p:spPr>
          <a:xfrm>
            <a:off x="2247900" y="5038725"/>
            <a:ext cx="7696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AI 负责查询、整理和准备动作；员工负责判断、确认和对外沟通。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C61BE5-FFAE-460A-A092-6EDD27C17FE0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1DFFB3-1D88-4270-8F1A-AE9500419E4D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203163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667B930-D793-4D96-84BF-A3A4E9802CBD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开放 AI 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1C014B-7A32-4646-A57F-4DF8A1A7EF63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员工继续使用熟悉的 AI，业务仍然回到同一套 ERP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8DD8A9-E318-4581-B3DA-F7C2889EBCD3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D55E4A-2F54-409E-80F4-4AB34492E980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2EC1F8-EF99-4CC3-BB7C-D55134B98B45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OpenClaw / 龙虾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039B1D-7DB4-4E08-AE15-088944CBE41F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407E7A-78F0-4DC1-B480-E85AA609B9F1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D2717F-1A95-46E5-BE37-CE1C4489F6B7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豆包 · Dify · 企业自建 AI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A0957E2-C99B-44EE-811D-CFDEE13476FE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564EF0-690D-4674-97A5-0FBE8D7E3FA1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D37246-1A68-4AB8-9700-86127E7DE732}"/>
              </a:ext>
            </a:extLst>
          </p:cNvPr>
          <p:cNvSpPr>
            <a:spLocks noGrp="1"/>
          </p:cNvSpPr>
          <p:nvPr/>
        </p:nvSpPr>
        <p:spPr>
          <a:xfrm>
            <a:off x="1162050" y="35623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员工描述或转发工作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408355E-E146-4B83-B7D3-975C9E73CD1A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7187CD-98FD-4390-A2F8-BD93748D986D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781E7C-1C85-4799-B043-DAF8FE4622E7}"/>
              </a:ext>
            </a:extLst>
          </p:cNvPr>
          <p:cNvSpPr>
            <a:spLocks noGrp="1"/>
          </p:cNvSpPr>
          <p:nvPr/>
        </p:nvSpPr>
        <p:spPr>
          <a:xfrm>
            <a:off x="1162050" y="4076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查询 ERP 并整理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2B4DE1-ADD2-40A2-9C46-7A6EB9C979E3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6651B5-41A3-4AB2-90FC-886A72A9BD7F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96294D-CA68-4CB3-8E47-CACF72633851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员工确认回复或动作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1C5C2DE-88E5-4199-84BF-EDD97BAF9D26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3A979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2D26D2-8710-4CCA-B989-64DD99FEBCB1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937443-B531-4F09-8B08-2D53AA33BAE4}"/>
              </a:ext>
            </a:extLst>
          </p:cNvPr>
          <p:cNvSpPr>
            <a:spLocks noGrp="1"/>
          </p:cNvSpPr>
          <p:nvPr/>
        </p:nvSpPr>
        <p:spPr>
          <a:xfrm>
            <a:off x="1162050" y="51054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业务数据提交到 ERP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1571625"/>
            <a:ext cx="6286500" cy="4191000"/>
          </a:xfrm>
          <a:prstGeom prst="roundRect">
            <a:avLst>
              <a:gd name="adj" fmla="val 4545"/>
            </a:avLst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1434512-3538-48D5-BE1D-597F9B1C50E7}"/>
              </a:ext>
            </a:extLst>
          </p:cNvPr>
          <p:cNvSpPr>
            <a:spLocks noGrp="1"/>
          </p:cNvSpPr>
          <p:nvPr/>
        </p:nvSpPr>
        <p:spPr>
          <a:xfrm>
            <a:off x="5048250" y="5572125"/>
            <a:ext cx="6096000" cy="476250"/>
          </a:xfrm>
          <a:prstGeom prst="roundRect">
            <a:avLst>
              <a:gd name="adj" fmla="val 32000"/>
            </a:avLst>
          </a:prstGeom>
          <a:solidFill>
            <a:srgbClr val="EAF4FF"/>
          </a:solidFill>
          <a:ln w="9525">
            <a:solidFill>
              <a:srgbClr val="BBD8F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68DA28-06C9-40AA-80AB-4526801C51D8}"/>
              </a:ext>
            </a:extLst>
          </p:cNvPr>
          <p:cNvSpPr>
            <a:spLocks noGrp="1"/>
          </p:cNvSpPr>
          <p:nvPr/>
        </p:nvSpPr>
        <p:spPr>
          <a:xfrm>
            <a:off x="5238750" y="5667375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微信里与 AI 沟通的是企业员工；客户不直接操作 ERP。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1B608B-5FB2-4278-BD4D-AB1D771F2B0D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2C609C-B7FF-4BBC-BBAE-923B75C27826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893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EADA902-15C7-442E-947B-3146C94124BB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优先服务范围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19E8FB-C92B-437E-9449-32DFACD58102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最适合有连续业务链、跨部门协同压力的企业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CB4831-C844-43C3-853D-99E08B377718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100212-4259-4391-B297-E76C8AA26E1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l="7503" r="7503"/>
          <a:stretch>
            <a:fillRect/>
          </a:stretch>
        </p:blipFill>
        <p:spPr>
          <a:xfrm>
            <a:off x="4572000" y="1466850"/>
            <a:ext cx="7048500" cy="4667250"/>
          </a:xfrm>
          <a:prstGeom prst="roundRect">
            <a:avLst>
              <a:gd name="adj" fmla="val 4082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91D84AB-E485-4A43-8321-543D95DEC31B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贸易企业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955148-7ED5-40B5-8C43-791BACF4AB5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客户 · 采购 · 库存 · 应收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F0F851-68A4-4209-B384-E256B0D14887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314325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AC92AD-DB07-4F3A-9F90-474E97EFFDC5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外贸企业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CCEC44-94F9-4DAF-94E3-A122F952104F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海外客户 · 多币种 · 装箱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0EB3A3-D437-4FD7-8989-392B5EE966A8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314325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A2CC9A-F686-4F24-8FEF-669B07E267FC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设备销售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D5A4B0-C546-4706-83D2-05B2A39B1D13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设备 · 项目 · 验收 · 售后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C3DC34-882D-4855-8915-814EC1EF7FFF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3143250" cy="9525"/>
          </a:xfrm>
          <a:prstGeom prst="rect">
            <a:avLst/>
          </a:prstGeom>
          <a:solidFill>
            <a:srgbClr val="CFE1F7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93508D-1D71-42CF-9466-FE420CC82BDE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汽配 / 工业品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AC4529-3B77-4E63-B9C5-F468BF3CB1F8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多 SKU · 频繁报价 · 采购库存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C8D63C6-8E81-4D52-9375-6821A5290ABF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3238500" cy="400050"/>
          </a:xfrm>
          <a:prstGeom prst="roundRect">
            <a:avLst>
              <a:gd name="adj" fmla="val 47619"/>
            </a:avLst>
          </a:prstGeom>
          <a:solidFill>
            <a:srgbClr val="1267E8"/>
          </a:solidFill>
          <a:ln w="9525">
            <a:solidFill>
              <a:srgbClr val="1267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BF4574-0033-46E5-A000-DDD61AD11238}"/>
              </a:ext>
            </a:extLst>
          </p:cNvPr>
          <p:cNvSpPr>
            <a:spLocks noGrp="1"/>
          </p:cNvSpPr>
          <p:nvPr/>
        </p:nvSpPr>
        <p:spPr>
          <a:xfrm>
            <a:off x="838200" y="5819775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10～100 人 · 可从一段流程开始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0BD16E-C3D1-4253-97FB-24F9A5800D66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4F8A63-3BBE-48D0-BE50-A58F20651851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78590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B18DD21-E180-4851-917B-2E4C1EDD1250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7～30 天试用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EFF24F-33D7-4E50-A91E-49723CEE8C28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不用一次推翻现有系统，先验证一条真实业务链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B79B6F-597D-44CF-AC98-E1FA4B4800A0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5B3FAC-8F3D-4E56-9E76-25CA71DC1235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3AF510-71D7-4700-BA19-FFAF51E92381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3B6442-3B1A-4200-84B8-A3F2C1E581C1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2238375" cy="5715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34A3E4-E9B2-4DB2-B004-CC00B45BB26A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选择场景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16D30B-E2F7-4FDC-BCCD-6846E71B6967}"/>
              </a:ext>
            </a:extLst>
          </p:cNvPr>
          <p:cNvSpPr>
            <a:spLocks noGrp="1"/>
          </p:cNvSpPr>
          <p:nvPr/>
        </p:nvSpPr>
        <p:spPr>
          <a:xfrm>
            <a:off x="666750" y="30861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跟进、订单库存、应收、项目或员工 AI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13573-F3B5-46D5-89D7-09F729E2BBD6}"/>
              </a:ext>
            </a:extLst>
          </p:cNvPr>
          <p:cNvSpPr>
            <a:spLocks noGrp="1"/>
          </p:cNvSpPr>
          <p:nvPr/>
        </p:nvSpPr>
        <p:spPr>
          <a:xfrm>
            <a:off x="3448050" y="179070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22E4EE-E949-404F-B9FE-5D7227BEAA8E}"/>
              </a:ext>
            </a:extLst>
          </p:cNvPr>
          <p:cNvSpPr>
            <a:spLocks noGrp="1"/>
          </p:cNvSpPr>
          <p:nvPr/>
        </p:nvSpPr>
        <p:spPr>
          <a:xfrm>
            <a:off x="3448050" y="2343150"/>
            <a:ext cx="2238375" cy="5715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18A0DC-4954-4EFE-B0E6-D5FFDA9F453A}"/>
              </a:ext>
            </a:extLst>
          </p:cNvPr>
          <p:cNvSpPr>
            <a:spLocks noGrp="1"/>
          </p:cNvSpPr>
          <p:nvPr/>
        </p:nvSpPr>
        <p:spPr>
          <a:xfrm>
            <a:off x="3448050" y="26479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准备数据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2489D1-3CFE-43E2-8D77-766560F7BD3F}"/>
              </a:ext>
            </a:extLst>
          </p:cNvPr>
          <p:cNvSpPr>
            <a:spLocks noGrp="1"/>
          </p:cNvSpPr>
          <p:nvPr/>
        </p:nvSpPr>
        <p:spPr>
          <a:xfrm>
            <a:off x="3448050" y="30861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脱敏客户、商品、库存或业务样例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EBD6D7-DA81-4720-8D67-05BF8EE36EB0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00BB6B-E4CD-4B1A-A84B-A94E5CC6D74D}"/>
              </a:ext>
            </a:extLst>
          </p:cNvPr>
          <p:cNvSpPr>
            <a:spLocks noGrp="1"/>
          </p:cNvSpPr>
          <p:nvPr/>
        </p:nvSpPr>
        <p:spPr>
          <a:xfrm>
            <a:off x="6229350" y="2343150"/>
            <a:ext cx="2238375" cy="5715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3AB3E2-E7A2-4760-B4A5-C9707ACA9242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配置组织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852D1A-74A7-46EE-9B6D-5512893438D9}"/>
              </a:ext>
            </a:extLst>
          </p:cNvPr>
          <p:cNvSpPr>
            <a:spLocks noGrp="1"/>
          </p:cNvSpPr>
          <p:nvPr/>
        </p:nvSpPr>
        <p:spPr>
          <a:xfrm>
            <a:off x="6229350" y="30861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参与员工、角色、数据范围和口径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71424C-3043-444D-9287-6B0AD3930722}"/>
              </a:ext>
            </a:extLst>
          </p:cNvPr>
          <p:cNvSpPr>
            <a:spLocks noGrp="1"/>
          </p:cNvSpPr>
          <p:nvPr/>
        </p:nvSpPr>
        <p:spPr>
          <a:xfrm>
            <a:off x="9010650" y="179070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D8E2F3-8D3A-4EF6-94D0-11EEC0BA41BF}"/>
              </a:ext>
            </a:extLst>
          </p:cNvPr>
          <p:cNvSpPr>
            <a:spLocks noGrp="1"/>
          </p:cNvSpPr>
          <p:nvPr/>
        </p:nvSpPr>
        <p:spPr>
          <a:xfrm>
            <a:off x="9010650" y="2343150"/>
            <a:ext cx="2238375" cy="57150"/>
          </a:xfrm>
          <a:prstGeom prst="rect">
            <a:avLst/>
          </a:prstGeom>
          <a:solidFill>
            <a:srgbClr val="13A979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AA90C-A185-438B-89A9-38928E280660}"/>
              </a:ext>
            </a:extLst>
          </p:cNvPr>
          <p:cNvSpPr>
            <a:spLocks noGrp="1"/>
          </p:cNvSpPr>
          <p:nvPr/>
        </p:nvSpPr>
        <p:spPr>
          <a:xfrm>
            <a:off x="9010650" y="2647950"/>
            <a:ext cx="2238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701E39-D43B-4C31-8856-14CAEC561CEC}"/>
              </a:ext>
            </a:extLst>
          </p:cNvPr>
          <p:cNvSpPr>
            <a:spLocks noGrp="1"/>
          </p:cNvSpPr>
          <p:nvPr/>
        </p:nvSpPr>
        <p:spPr>
          <a:xfrm>
            <a:off x="9010650" y="30861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真实业务运行，并按成功指标复盘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2CCFA18-EEAF-4217-BAD8-D73299409994}"/>
              </a:ext>
            </a:extLst>
          </p:cNvPr>
          <p:cNvSpPr>
            <a:spLocks noGrp="1"/>
          </p:cNvSpPr>
          <p:nvPr/>
        </p:nvSpPr>
        <p:spPr>
          <a:xfrm>
            <a:off x="1238250" y="4476750"/>
            <a:ext cx="9715500" cy="1181100"/>
          </a:xfrm>
          <a:prstGeom prst="roundRect">
            <a:avLst>
              <a:gd name="adj" fmla="val 19355"/>
            </a:avLst>
          </a:prstGeom>
          <a:solidFill>
            <a:srgbClr val="EEF6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DBA7F9-150F-4AB4-B99B-3F96E63CDACA}"/>
              </a:ext>
            </a:extLst>
          </p:cNvPr>
          <p:cNvSpPr>
            <a:spLocks noGrp="1"/>
          </p:cNvSpPr>
          <p:nvPr/>
        </p:nvSpPr>
        <p:spPr>
          <a:xfrm>
            <a:off x="1562100" y="47053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首周成功示例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CFAD90-7298-4A61-8793-51F14338CC11}"/>
              </a:ext>
            </a:extLst>
          </p:cNvPr>
          <p:cNvSpPr>
            <a:spLocks noGrp="1"/>
          </p:cNvSpPr>
          <p:nvPr/>
        </p:nvSpPr>
        <p:spPr>
          <a:xfrm>
            <a:off x="1562100" y="5038725"/>
            <a:ext cx="885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697"/>
          </a:bodyPr>
          <a:lstStyle/>
          <a:p>
            <a:pPr algn="l">
              <a:def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导入 100 个客户和 50 个 SKU，由 3 名销售完成 20 条真实跟进，</a:t>
            </a:r>
          </a:p>
          <a:p>
            <a:pPr algn="l">
              <a:def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老板通过 AI 查到本周需要跟进的客户。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B4F60EE-EB4B-4F2F-8CC2-664D1DEDE20A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E9430EF-A62F-46F0-BCC0-43A0CD076FCD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36128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53F73624-D6E4-43A1-AD1C-E4540611EAD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安全与可信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F498E9-F876-4167-A0DB-7AA493009908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更方便，也不能绕过企业原有管理边界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F1DC2F-9AA1-4618-8BAE-DB19793B433E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4C3BD8-98AD-416F-B06C-F29248D9530C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A3FD91-AA2A-4A7E-A89F-787B999FAC17}"/>
              </a:ext>
            </a:extLst>
          </p:cNvPr>
          <p:cNvSpPr>
            <a:spLocks noGrp="1"/>
          </p:cNvSpPr>
          <p:nvPr/>
        </p:nvSpPr>
        <p:spPr>
          <a:xfrm>
            <a:off x="207645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89A9FD0-C5A6-40F0-9463-9C198ECAF46E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3F8D6D-09BF-48F0-B0F7-0CA383E6F0CE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A4C6D1-BAC0-4B4F-97CD-673E49CBFCAB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800AD6-30E9-4278-8DB8-FA645B4A688F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员工账号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6B6B6A-4147-4A35-A63C-9FD1045726AA}"/>
              </a:ext>
            </a:extLst>
          </p:cNvPr>
          <p:cNvSpPr>
            <a:spLocks noGrp="1"/>
          </p:cNvSpPr>
          <p:nvPr/>
        </p:nvSpPr>
        <p:spPr>
          <a:xfrm>
            <a:off x="62865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身份与岗位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7E4055-FEAB-48ED-8287-42C4D8318615}"/>
              </a:ext>
            </a:extLst>
          </p:cNvPr>
          <p:cNvSpPr>
            <a:spLocks noGrp="1"/>
          </p:cNvSpPr>
          <p:nvPr/>
        </p:nvSpPr>
        <p:spPr>
          <a:xfrm>
            <a:off x="400050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D79BFB-E557-46D8-B128-9D4A00BF4B72}"/>
              </a:ext>
            </a:extLst>
          </p:cNvPr>
          <p:cNvSpPr>
            <a:spLocks noGrp="1"/>
          </p:cNvSpPr>
          <p:nvPr/>
        </p:nvSpPr>
        <p:spPr>
          <a:xfrm>
            <a:off x="241935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1160426-B015-4775-B9F9-7D9FEA293700}"/>
              </a:ext>
            </a:extLst>
          </p:cNvPr>
          <p:cNvSpPr>
            <a:spLocks noGrp="1"/>
          </p:cNvSpPr>
          <p:nvPr/>
        </p:nvSpPr>
        <p:spPr>
          <a:xfrm>
            <a:off x="293370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158A16-C0AC-442D-BBC1-950C3935FB17}"/>
              </a:ext>
            </a:extLst>
          </p:cNvPr>
          <p:cNvSpPr>
            <a:spLocks noGrp="1"/>
          </p:cNvSpPr>
          <p:nvPr/>
        </p:nvSpPr>
        <p:spPr>
          <a:xfrm>
            <a:off x="293370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985FEA-E5D1-43A5-9AC4-EBA447AD7D04}"/>
              </a:ext>
            </a:extLst>
          </p:cNvPr>
          <p:cNvSpPr>
            <a:spLocks noGrp="1"/>
          </p:cNvSpPr>
          <p:nvPr/>
        </p:nvSpPr>
        <p:spPr>
          <a:xfrm>
            <a:off x="255270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可见数据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612285-B15D-438E-AA00-64AA5884D7B3}"/>
              </a:ext>
            </a:extLst>
          </p:cNvPr>
          <p:cNvSpPr>
            <a:spLocks noGrp="1"/>
          </p:cNvSpPr>
          <p:nvPr/>
        </p:nvSpPr>
        <p:spPr>
          <a:xfrm>
            <a:off x="255270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角色与范围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A9520C-87A2-46E7-904B-9E71594C1F16}"/>
              </a:ext>
            </a:extLst>
          </p:cNvPr>
          <p:cNvSpPr>
            <a:spLocks noGrp="1"/>
          </p:cNvSpPr>
          <p:nvPr/>
        </p:nvSpPr>
        <p:spPr>
          <a:xfrm>
            <a:off x="592455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A6C1C77-16BB-4EAD-A013-45FC43B4AA17}"/>
              </a:ext>
            </a:extLst>
          </p:cNvPr>
          <p:cNvSpPr>
            <a:spLocks noGrp="1"/>
          </p:cNvSpPr>
          <p:nvPr/>
        </p:nvSpPr>
        <p:spPr>
          <a:xfrm>
            <a:off x="434340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A00E687-433C-4E91-874B-FC0B1BE3D907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4CD9CA-E307-49C8-BE6F-E91842B07B64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370DEA-88C7-4216-B82A-E0DCFF2FF90C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查询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E8DDC0-2BEB-4839-9D75-4267186C3C53}"/>
              </a:ext>
            </a:extLst>
          </p:cNvPr>
          <p:cNvSpPr>
            <a:spLocks noGrp="1"/>
          </p:cNvSpPr>
          <p:nvPr/>
        </p:nvSpPr>
        <p:spPr>
          <a:xfrm>
            <a:off x="447675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时间与来源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0CA890-14E3-4B69-AF3D-5EBD97A23E68}"/>
              </a:ext>
            </a:extLst>
          </p:cNvPr>
          <p:cNvSpPr>
            <a:spLocks noGrp="1"/>
          </p:cNvSpPr>
          <p:nvPr/>
        </p:nvSpPr>
        <p:spPr>
          <a:xfrm>
            <a:off x="784860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7159AB0-2F20-4E9B-A097-C6EF6B5864D3}"/>
              </a:ext>
            </a:extLst>
          </p:cNvPr>
          <p:cNvSpPr>
            <a:spLocks noGrp="1"/>
          </p:cNvSpPr>
          <p:nvPr/>
        </p:nvSpPr>
        <p:spPr>
          <a:xfrm>
            <a:off x="626745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25B7003-E544-4F2D-9E9F-636E585339D4}"/>
              </a:ext>
            </a:extLst>
          </p:cNvPr>
          <p:cNvSpPr>
            <a:spLocks noGrp="1"/>
          </p:cNvSpPr>
          <p:nvPr/>
        </p:nvSpPr>
        <p:spPr>
          <a:xfrm>
            <a:off x="678180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D9D588-429F-478B-AABA-38F1361B7319}"/>
              </a:ext>
            </a:extLst>
          </p:cNvPr>
          <p:cNvSpPr>
            <a:spLocks noGrp="1"/>
          </p:cNvSpPr>
          <p:nvPr/>
        </p:nvSpPr>
        <p:spPr>
          <a:xfrm>
            <a:off x="678180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4C6B4D4-8EAF-472E-AB1F-800E3BB03770}"/>
              </a:ext>
            </a:extLst>
          </p:cNvPr>
          <p:cNvSpPr>
            <a:spLocks noGrp="1"/>
          </p:cNvSpPr>
          <p:nvPr/>
        </p:nvSpPr>
        <p:spPr>
          <a:xfrm>
            <a:off x="640080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草稿预览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ABCAA5-401E-459D-8EF9-764482303CCD}"/>
              </a:ext>
            </a:extLst>
          </p:cNvPr>
          <p:cNvSpPr>
            <a:spLocks noGrp="1"/>
          </p:cNvSpPr>
          <p:nvPr/>
        </p:nvSpPr>
        <p:spPr>
          <a:xfrm>
            <a:off x="640080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影响对象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B80341-AA52-423E-B5E9-2B3F46EB954A}"/>
              </a:ext>
            </a:extLst>
          </p:cNvPr>
          <p:cNvSpPr>
            <a:spLocks noGrp="1"/>
          </p:cNvSpPr>
          <p:nvPr/>
        </p:nvSpPr>
        <p:spPr>
          <a:xfrm>
            <a:off x="9772650" y="3000375"/>
            <a:ext cx="381000" cy="38100"/>
          </a:xfrm>
          <a:prstGeom prst="rect">
            <a:avLst/>
          </a:prstGeom>
          <a:solidFill>
            <a:srgbClr val="39B8F2"/>
          </a:solidFill>
          <a:ln w="0">
            <a:noFill/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9A9DBD7-A782-4217-8C01-B845E611CA0F}"/>
              </a:ext>
            </a:extLst>
          </p:cNvPr>
          <p:cNvSpPr>
            <a:spLocks noGrp="1"/>
          </p:cNvSpPr>
          <p:nvPr/>
        </p:nvSpPr>
        <p:spPr>
          <a:xfrm>
            <a:off x="819150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5AD8CC6-426D-4BA6-8010-A3DE7CE5BD1F}"/>
              </a:ext>
            </a:extLst>
          </p:cNvPr>
          <p:cNvSpPr>
            <a:spLocks noGrp="1"/>
          </p:cNvSpPr>
          <p:nvPr/>
        </p:nvSpPr>
        <p:spPr>
          <a:xfrm>
            <a:off x="870585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4767ED-37C1-4BAF-96A2-142A13170950}"/>
              </a:ext>
            </a:extLst>
          </p:cNvPr>
          <p:cNvSpPr>
            <a:spLocks noGrp="1"/>
          </p:cNvSpPr>
          <p:nvPr/>
        </p:nvSpPr>
        <p:spPr>
          <a:xfrm>
            <a:off x="870585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660E6B-9D4F-4F40-BDA7-6EEACD7CBB48}"/>
              </a:ext>
            </a:extLst>
          </p:cNvPr>
          <p:cNvSpPr>
            <a:spLocks noGrp="1"/>
          </p:cNvSpPr>
          <p:nvPr/>
        </p:nvSpPr>
        <p:spPr>
          <a:xfrm>
            <a:off x="832485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员工确认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E7C679-15FA-463D-99B2-F45AA7A3D04D}"/>
              </a:ext>
            </a:extLst>
          </p:cNvPr>
          <p:cNvSpPr>
            <a:spLocks noGrp="1"/>
          </p:cNvSpPr>
          <p:nvPr/>
        </p:nvSpPr>
        <p:spPr>
          <a:xfrm>
            <a:off x="832485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修改或放弃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491017E-DDDC-42F9-80FC-61D8DD8C18F0}"/>
              </a:ext>
            </a:extLst>
          </p:cNvPr>
          <p:cNvSpPr>
            <a:spLocks noGrp="1"/>
          </p:cNvSpPr>
          <p:nvPr/>
        </p:nvSpPr>
        <p:spPr>
          <a:xfrm>
            <a:off x="10115550" y="2190750"/>
            <a:ext cx="1581150" cy="1676400"/>
          </a:xfrm>
          <a:prstGeom prst="roundRect">
            <a:avLst>
              <a:gd name="adj" fmla="val 13253"/>
            </a:avLst>
          </a:prstGeom>
          <a:solidFill>
            <a:srgbClr val="EAFBF5"/>
          </a:solidFill>
          <a:ln w="9525">
            <a:solidFill>
              <a:srgbClr val="A9E9D3"/>
            </a:solidFill>
            <a:prstDash val="solid"/>
          </a:ln>
        </p:spPr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F21EF27-E942-4E1B-977C-25E79137A1F4}"/>
              </a:ext>
            </a:extLst>
          </p:cNvPr>
          <p:cNvSpPr>
            <a:spLocks noGrp="1"/>
          </p:cNvSpPr>
          <p:nvPr/>
        </p:nvSpPr>
        <p:spPr>
          <a:xfrm>
            <a:off x="10629900" y="23812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13A979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8C2620E-9105-4AB0-9C29-AF5F20B400B1}"/>
              </a:ext>
            </a:extLst>
          </p:cNvPr>
          <p:cNvSpPr>
            <a:spLocks noGrp="1"/>
          </p:cNvSpPr>
          <p:nvPr/>
        </p:nvSpPr>
        <p:spPr>
          <a:xfrm>
            <a:off x="10629900" y="2381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51EFA87-24C3-4204-9FB4-4DA78F789AA3}"/>
              </a:ext>
            </a:extLst>
          </p:cNvPr>
          <p:cNvSpPr>
            <a:spLocks noGrp="1"/>
          </p:cNvSpPr>
          <p:nvPr/>
        </p:nvSpPr>
        <p:spPr>
          <a:xfrm>
            <a:off x="10248900" y="31051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审计记录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79D7105-8023-4FF0-BFEC-6F876C775C8D}"/>
              </a:ext>
            </a:extLst>
          </p:cNvPr>
          <p:cNvSpPr>
            <a:spLocks noGrp="1"/>
          </p:cNvSpPr>
          <p:nvPr/>
        </p:nvSpPr>
        <p:spPr>
          <a:xfrm>
            <a:off x="10248900" y="344805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AD39F9D-5C02-4F9A-AD0D-38CBE7C1D1E6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085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租户隔离 · 字段控制 · 来源下钻 · 写操作确认 · 备份与数据导出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637E85A-618D-44E8-8444-1FCE886D33AC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8C"/>
                </a:solidFill>
                <a:latin typeface="Microsoft YaHei"/>
                <a:ea typeface="Microsoft YaHei"/>
                <a:cs typeface="Microsoft YaHei"/>
              </a:rPr>
              <a:t>部署、模型、备份、接口和数据处理方式，在正式上线前按企业要求确认。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C264763-8838-4A78-B6DA-9374466F04F5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E10D2CC-044D-41E3-9FF1-AA048EE40991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425151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6F610E2-E57B-4C08-9AE5-A3C0EAD76C0B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套餐与实施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B5DD9F-D184-434C-BFFB-DAD9B3DB553A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从统一业务开始，再按 AI 和实施范围逐步扩展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53F08A-1693-4A3D-990E-8844D42664C1}"/>
              </a:ext>
            </a:extLst>
          </p:cNvPr>
          <p:cNvSpPr>
            <a:spLocks noGrp="1"/>
          </p:cNvSpPr>
          <p:nvPr/>
        </p:nvSpPr>
        <p:spPr>
          <a:xfrm>
            <a:off x="11144250" y="4381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A6C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E4D3D6-18F3-4D2C-93DF-3E48CC6D388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704850" cy="47625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71C586A-F3FD-4DFD-A62F-FE86223F3222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23850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E338FA-D067-4FFC-910E-8AE752D593D7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标准版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2D5587-88C0-4FDB-A210-5086DF3D6D14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¥3,800 / 年起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D9510C-3F46-4137-B0D2-14E487C314A7}"/>
              </a:ext>
            </a:extLst>
          </p:cNvPr>
          <p:cNvSpPr>
            <a:spLocks noGrp="1"/>
          </p:cNvSpPr>
          <p:nvPr/>
        </p:nvSpPr>
        <p:spPr>
          <a:xfrm>
            <a:off x="933450" y="3181350"/>
            <a:ext cx="27051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CRM 与跟进</a:t>
            </a:r>
          </a:p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报价、订单与采购</a:t>
            </a:r>
          </a:p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库存与应收协同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810A5AC-E02B-4012-9D61-3D62E25245F2}"/>
              </a:ext>
            </a:extLst>
          </p:cNvPr>
          <p:cNvSpPr>
            <a:spLocks noGrp="1"/>
          </p:cNvSpPr>
          <p:nvPr/>
        </p:nvSpPr>
        <p:spPr>
          <a:xfrm>
            <a:off x="4267200" y="1762125"/>
            <a:ext cx="3238500" cy="3143250"/>
          </a:xfrm>
          <a:prstGeom prst="roundRect">
            <a:avLst>
              <a:gd name="adj" fmla="val 6667"/>
            </a:avLst>
          </a:prstGeom>
          <a:solidFill>
            <a:srgbClr val="EEF6FF"/>
          </a:solidFill>
          <a:ln w="9525">
            <a:solidFill>
              <a:srgbClr val="9FC8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457616-2C8C-43AC-A5AA-055D8FB44C7A}"/>
              </a:ext>
            </a:extLst>
          </p:cNvPr>
          <p:cNvSpPr>
            <a:spLocks noGrp="1"/>
          </p:cNvSpPr>
          <p:nvPr/>
        </p:nvSpPr>
        <p:spPr>
          <a:xfrm>
            <a:off x="4267200" y="1762125"/>
            <a:ext cx="3238500" cy="76200"/>
          </a:xfrm>
          <a:prstGeom prst="rect">
            <a:avLst/>
          </a:prstGeom>
          <a:solidFill>
            <a:srgbClr val="1267E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676BE7-C228-4522-8C86-8794D11C9EEC}"/>
              </a:ext>
            </a:extLst>
          </p:cNvPr>
          <p:cNvSpPr>
            <a:spLocks noGrp="1"/>
          </p:cNvSpPr>
          <p:nvPr/>
        </p:nvSpPr>
        <p:spPr>
          <a:xfrm>
            <a:off x="4533900" y="207645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AI 专业版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6A0D7D-800F-468A-ADD1-A2188A63D652}"/>
              </a:ext>
            </a:extLst>
          </p:cNvPr>
          <p:cNvSpPr>
            <a:spLocks noGrp="1"/>
          </p:cNvSpPr>
          <p:nvPr/>
        </p:nvSpPr>
        <p:spPr>
          <a:xfrm>
            <a:off x="4533900" y="25336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¥6,800 / 年起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269B8C-A1DA-4BCD-BDB5-88D2A3F8E98C}"/>
              </a:ext>
            </a:extLst>
          </p:cNvPr>
          <p:cNvSpPr>
            <a:spLocks noGrp="1"/>
          </p:cNvSpPr>
          <p:nvPr/>
        </p:nvSpPr>
        <p:spPr>
          <a:xfrm>
            <a:off x="4533900" y="3181350"/>
            <a:ext cx="27051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标准版全部能力</a:t>
            </a:r>
          </a:p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企业助手与经营分析</a:t>
            </a:r>
          </a:p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草稿、自动化、企微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95A741-3C71-4CF7-9BAF-687EF719E71D}"/>
              </a:ext>
            </a:extLst>
          </p:cNvPr>
          <p:cNvSpPr>
            <a:spLocks noGrp="1"/>
          </p:cNvSpPr>
          <p:nvPr/>
        </p:nvSpPr>
        <p:spPr>
          <a:xfrm>
            <a:off x="7867650" y="1762125"/>
            <a:ext cx="323850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FE1F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4C17EB-E0A5-4610-BA21-69DDAC69BF6B}"/>
              </a:ext>
            </a:extLst>
          </p:cNvPr>
          <p:cNvSpPr>
            <a:spLocks noGrp="1"/>
          </p:cNvSpPr>
          <p:nvPr/>
        </p:nvSpPr>
        <p:spPr>
          <a:xfrm>
            <a:off x="8134350" y="207645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1F3A"/>
                </a:solidFill>
                <a:latin typeface="Microsoft YaHei"/>
                <a:ea typeface="Microsoft YaHei"/>
                <a:cs typeface="Microsoft YaHei"/>
              </a:rPr>
              <a:t>企业版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C1BD87-6464-4E1A-B434-A24991EF7D59}"/>
              </a:ext>
            </a:extLst>
          </p:cNvPr>
          <p:cNvSpPr>
            <a:spLocks noGrp="1"/>
          </p:cNvSpPr>
          <p:nvPr/>
        </p:nvSpPr>
        <p:spPr>
          <a:xfrm>
            <a:off x="8134350" y="25336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¥12,800 / 年起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8C634E-AA62-4584-B4FE-7FF38AE087E1}"/>
              </a:ext>
            </a:extLst>
          </p:cNvPr>
          <p:cNvSpPr>
            <a:spLocks noGrp="1"/>
          </p:cNvSpPr>
          <p:nvPr/>
        </p:nvSpPr>
        <p:spPr>
          <a:xfrm>
            <a:off x="8134350" y="3181350"/>
            <a:ext cx="27051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AI 专业版全部能力</a:t>
            </a:r>
          </a:p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项目、工单、高级权限</a:t>
            </a:r>
          </a:p>
          <a:p>
            <a:pPr marL="20" indent="-10">
              <a:lnSpc>
                <a:spcPct val="108000"/>
              </a:lnSpc>
              <a:buNone/>
              <a:def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rPr>
              <a:t>开放 API / MCP 与 AI 连接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47EB680-65C6-4E17-A04D-183BC2C64427}"/>
              </a:ext>
            </a:extLst>
          </p:cNvPr>
          <p:cNvSpPr>
            <a:spLocks noGrp="1"/>
          </p:cNvSpPr>
          <p:nvPr/>
        </p:nvSpPr>
        <p:spPr>
          <a:xfrm>
            <a:off x="666750" y="5257800"/>
            <a:ext cx="10439400" cy="666750"/>
          </a:xfrm>
          <a:prstGeom prst="roundRect">
            <a:avLst>
              <a:gd name="adj" fmla="val 25714"/>
            </a:avLst>
          </a:prstGeom>
          <a:solidFill>
            <a:srgbClr val="0A1F3A"/>
          </a:solidFill>
          <a:ln w="9525">
            <a:solidFill>
              <a:srgbClr val="0A1F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B1FDDB-9643-4AB3-B053-F24C7F173711}"/>
              </a:ext>
            </a:extLst>
          </p:cNvPr>
          <p:cNvSpPr>
            <a:spLocks noGrp="1"/>
          </p:cNvSpPr>
          <p:nvPr/>
        </p:nvSpPr>
        <p:spPr>
          <a:xfrm>
            <a:off x="914400" y="541972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私有部署：单独评估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D427C9-C992-4EDB-ADFD-05954CBB4D8A}"/>
              </a:ext>
            </a:extLst>
          </p:cNvPr>
          <p:cNvSpPr>
            <a:spLocks noGrp="1"/>
          </p:cNvSpPr>
          <p:nvPr/>
        </p:nvSpPr>
        <p:spPr>
          <a:xfrm>
            <a:off x="3714750" y="5419725"/>
            <a:ext cx="708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C9D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DDF4"/>
                </a:solidFill>
                <a:latin typeface="Microsoft YaHei"/>
                <a:ea typeface="Microsoft YaHei"/>
                <a:cs typeface="Microsoft YaHei"/>
              </a:rPr>
              <a:t>最终报价由用户数、模块、AI 用量、数据迁移、培训、第三方平台与专属开发范围决定。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24BF6D-3B9C-4B24-A248-96960364198E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7B65C0-D8D0-4AD9-A302-D8BC873552FD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295AC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911698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45A83F1-DD76-49F3-BDC5-DE8B1CA1F302}"/>
              </a:ext>
            </a:extLst>
          </p:cNvPr>
          <p:cNvSpPr>
            <a:spLocks noGrp="1"/>
          </p:cNvSpPr>
          <p:nvPr/>
        </p:nvSpPr>
        <p:spPr>
          <a:xfrm>
            <a:off x="7715250" y="0"/>
            <a:ext cx="4476750" cy="6858000"/>
          </a:xfrm>
          <a:prstGeom prst="rect">
            <a:avLst/>
          </a:prstGeom>
          <a:solidFill>
            <a:srgbClr val="0F4C9C"/>
          </a:solidFill>
          <a:ln w="0">
            <a:noFill/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5625" y="1797103"/>
            <a:ext cx="4953000" cy="2787544"/>
          </a:xfrm>
          <a:prstGeom prst="roundRect">
            <a:avLst>
              <a:gd name="adj" fmla="val 5556"/>
            </a:avLst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5AB05C3-7B05-46C1-83C2-74638496C3F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D48806-A630-4C35-B2A4-61A3D94B6835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5905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用一份脱敏数据，</a:t>
            </a:r>
          </a:p>
          <a:p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验证一个真实场景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2BAC8-FC8F-456D-AB36-4AD99DF57AF0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进入 Demo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2447C-93BA-4065-87B9-9702B6174254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直接体验经营问题、风险下钻和业务草稿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7E0D7F-C218-478E-BB18-9DA2440F68D1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预约业务访谈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5DF22B-6702-4F23-901D-580AF081D6D4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用 30 分钟选择最值得验证的一段流程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DB237E-4212-4EBD-97F1-1D3398A8353D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B8F2"/>
                </a:solidFill>
                <a:latin typeface="Microsoft YaHei"/>
                <a:ea typeface="Microsoft YaHei"/>
                <a:cs typeface="Microsoft YaHei"/>
              </a:rPr>
              <a:t>申请共创试用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4B6B98-353E-43C6-8371-4613C1383E02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8FA"/>
                </a:solidFill>
                <a:latin typeface="Microsoft YaHei"/>
                <a:ea typeface="Microsoft YaHei"/>
                <a:cs typeface="Microsoft YaHei"/>
              </a:rPr>
              <a:t>真实数据运行 7～30 天，用结果决定下一步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45D22EA-EB2F-497B-BEC1-732B63874DA4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41910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1F2B7C-98E8-43BF-B6D4-39224145DD6F}"/>
              </a:ext>
            </a:extLst>
          </p:cNvPr>
          <p:cNvSpPr>
            <a:spLocks noGrp="1"/>
          </p:cNvSpPr>
          <p:nvPr/>
        </p:nvSpPr>
        <p:spPr>
          <a:xfrm>
            <a:off x="914400" y="6000750"/>
            <a:ext cx="373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267E8"/>
                </a:solidFill>
                <a:latin typeface="Microsoft YaHei"/>
                <a:ea typeface="Microsoft YaHei"/>
                <a:cs typeface="Microsoft YaHei"/>
              </a:rPr>
              <a:t>erp.starmin.cn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35D09D-EE00-4DFF-85FF-615DF700A444}"/>
              </a:ext>
            </a:extLst>
          </p:cNvPr>
          <p:cNvSpPr>
            <a:spLocks noGrp="1"/>
          </p:cNvSpPr>
          <p:nvPr/>
        </p:nvSpPr>
        <p:spPr>
          <a:xfrm>
            <a:off x="666750" y="65532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星敏 AI ERP · erp.starmin.cn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FA4C33-E853-4FD7-8CBB-A4A15F348864}"/>
              </a:ext>
            </a:extLst>
          </p:cNvPr>
          <p:cNvSpPr>
            <a:spLocks noGrp="1"/>
          </p:cNvSpPr>
          <p:nvPr/>
        </p:nvSpPr>
        <p:spPr>
          <a:xfrm>
            <a:off x="10668000" y="65532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FC9FF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1090263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</Words>
  <Application>Microsoft Office PowerPoint</Application>
  <DocSecurity>0</DocSecurity>
  <PresentationFormat>宽屏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Armine Wong</cp:lastModifiedBy>
  <cp:revision>1</cp:revision>
  <dcterms:created xsi:type="dcterms:W3CDTF">2026-09-01T01:21:00Z</dcterms:created>
  <dcterms:modified xsi:type="dcterms:W3CDTF">2026-09-01T02:08:43Z</dcterms:modified>
</cp:coreProperties>
</file>